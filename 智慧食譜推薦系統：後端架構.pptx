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66" r:id="rId3"/>
    <p:sldId id="257" r:id="rId4"/>
    <p:sldId id="258" r:id="rId5"/>
    <p:sldId id="259" r:id="rId6"/>
    <p:sldId id="260" r:id="rId7"/>
    <p:sldId id="262" r:id="rId8"/>
    <p:sldId id="263" r:id="rId9"/>
    <p:sldId id="268" r:id="rId10"/>
    <p:sldId id="267" r:id="rId11"/>
    <p:sldId id="269" r:id="rId12"/>
    <p:sldId id="270" r:id="rId13"/>
    <p:sldId id="261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7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smtClean="0"/>
              <a:t>按一下以編輯母片副標題樣式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3C596FD4-4365-4364-B1CD-6B3B56614197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8203DEAB-A335-40D8-B707-26D7553F7104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8264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96FD4-4365-4364-B1CD-6B3B56614197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3DEAB-A335-40D8-B707-26D7553F710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01798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96FD4-4365-4364-B1CD-6B3B56614197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3DEAB-A335-40D8-B707-26D7553F7104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6015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96FD4-4365-4364-B1CD-6B3B56614197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3DEAB-A335-40D8-B707-26D7553F710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1473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96FD4-4365-4364-B1CD-6B3B56614197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3DEAB-A335-40D8-B707-26D7553F7104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2190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r>
              <a:rPr lang="zh-TW" altLang="en-US" dirty="0" smtClean="0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96FD4-4365-4364-B1CD-6B3B56614197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3DEAB-A335-40D8-B707-26D7553F7104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8597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3C596FD4-4365-4364-B1CD-6B3B56614197}" type="datetimeFigureOut">
              <a:rPr lang="zh-TW" altLang="en-US" smtClean="0"/>
              <a:pPr/>
              <a:t>2026/1/8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8203DEAB-A335-40D8-B707-26D7553F7104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8665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  <a:lvl2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2pPr>
            <a:lvl3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3pPr>
            <a:lvl4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4pPr>
            <a:lvl5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5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3C596FD4-4365-4364-B1CD-6B3B56614197}" type="datetimeFigureOut">
              <a:rPr lang="zh-TW" altLang="en-US" smtClean="0"/>
              <a:pPr/>
              <a:t>2026/1/8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8203DEAB-A335-40D8-B707-26D7553F7104}" type="slidenum">
              <a:rPr lang="zh-TW" altLang="en-US" smtClean="0"/>
              <a:pPr/>
              <a:t>‹#›</a:t>
            </a:fld>
            <a:endParaRPr lang="zh-TW" alt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06375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 smtClean="0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3C596FD4-4365-4364-B1CD-6B3B56614197}" type="datetimeFigureOut">
              <a:rPr lang="zh-TW" altLang="en-US" smtClean="0"/>
              <a:pPr/>
              <a:t>2026/1/8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8203DEAB-A335-40D8-B707-26D7553F7104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618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標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 smtClean="0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3C596FD4-4365-4364-B1CD-6B3B56614197}" type="datetimeFigureOut">
              <a:rPr lang="zh-TW" altLang="en-US" smtClean="0"/>
              <a:pPr/>
              <a:t>2026/1/8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8203DEAB-A335-40D8-B707-26D7553F7104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786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說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3C596FD4-4365-4364-B1CD-6B3B56614197}" type="datetimeFigureOut">
              <a:rPr lang="zh-TW" altLang="en-US" smtClean="0"/>
              <a:pPr/>
              <a:t>2026/1/8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8203DEAB-A335-40D8-B707-26D7553F7104}" type="slidenum">
              <a:rPr lang="zh-TW" altLang="en-US" smtClean="0"/>
              <a:pPr/>
              <a:t>‹#›</a:t>
            </a:fld>
            <a:endParaRPr lang="zh-TW" alt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92808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標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3C596FD4-4365-4364-B1CD-6B3B56614197}" type="datetimeFigureOut">
              <a:rPr lang="zh-TW" altLang="en-US" smtClean="0"/>
              <a:pPr/>
              <a:t>2026/1/8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8203DEAB-A335-40D8-B707-26D7553F7104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71982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3C596FD4-4365-4364-B1CD-6B3B56614197}" type="datetimeFigureOut">
              <a:rPr lang="zh-TW" altLang="en-US" smtClean="0"/>
              <a:pPr/>
              <a:t>2026/1/8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8203DEAB-A335-40D8-B707-26D7553F7104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04450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3C596FD4-4365-4364-B1CD-6B3B56614197}" type="datetimeFigureOut">
              <a:rPr lang="zh-TW" altLang="en-US" smtClean="0"/>
              <a:pPr/>
              <a:t>2026/1/8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8203DEAB-A335-40D8-B707-26D7553F7104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  <a:latin typeface="標楷體" panose="03000509000000000000" pitchFamily="65" charset="-120"/>
                <a:ea typeface="標楷體" panose="03000509000000000000" pitchFamily="65" charset="-120"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76931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pPr marL="0" lvl="0"/>
            <a:r>
              <a:rPr lang="zh-TW" altLang="en-US" dirty="0" smtClean="0"/>
              <a:t>按一下以編輯母片標題樣式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3C596FD4-4365-4364-B1CD-6B3B56614197}" type="datetimeFigureOut">
              <a:rPr lang="zh-TW" altLang="en-US" smtClean="0"/>
              <a:pPr/>
              <a:t>2026/1/8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8203DEAB-A335-40D8-B707-26D7553F7104}" type="slidenum">
              <a:rPr lang="zh-TW" altLang="en-US" smtClean="0"/>
              <a:pPr/>
              <a:t>‹#›</a:t>
            </a:fld>
            <a:endParaRPr lang="zh-TW" alt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8258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  <a:lvl2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2pPr>
            <a:lvl3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3pPr>
            <a:lvl4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4pPr>
            <a:lvl5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5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3C596FD4-4365-4364-B1CD-6B3B56614197}" type="datetimeFigureOut">
              <a:rPr lang="zh-TW" altLang="en-US" smtClean="0"/>
              <a:pPr/>
              <a:t>2026/1/8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8203DEAB-A335-40D8-B707-26D7553F7104}" type="slidenum">
              <a:rPr lang="zh-TW" altLang="en-US" smtClean="0"/>
              <a:pPr/>
              <a:t>‹#›</a:t>
            </a:fld>
            <a:endParaRPr lang="zh-TW" alt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5910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  <a:lvl2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2pPr>
            <a:lvl3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3pPr>
            <a:lvl4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4pPr>
            <a:lvl5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5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3C596FD4-4365-4364-B1CD-6B3B56614197}" type="datetimeFigureOut">
              <a:rPr lang="zh-TW" altLang="en-US" smtClean="0"/>
              <a:pPr/>
              <a:t>2026/1/8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標楷體" panose="03000509000000000000" pitchFamily="65" charset="-120"/>
                <a:ea typeface="標楷體" panose="03000509000000000000" pitchFamily="65" charset="-120"/>
              </a:defRPr>
            </a:lvl1pPr>
          </a:lstStyle>
          <a:p>
            <a:fld id="{8203DEAB-A335-40D8-B707-26D7553F7104}" type="slidenum">
              <a:rPr lang="zh-TW" altLang="en-US" smtClean="0"/>
              <a:pPr/>
              <a:t>‹#›</a:t>
            </a:fld>
            <a:endParaRPr lang="zh-TW" alt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4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3C596FD4-4365-4364-B1CD-6B3B56614197}" type="datetimeFigureOut">
              <a:rPr lang="zh-TW" altLang="en-US" smtClean="0"/>
              <a:t>2026/1/8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8203DEAB-A335-40D8-B707-26D7553F710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801674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452880"/>
            <a:ext cx="9144000" cy="995680"/>
          </a:xfrm>
        </p:spPr>
        <p:txBody>
          <a:bodyPr/>
          <a:lstStyle/>
          <a:p>
            <a:r>
              <a:rPr lang="zh-TW" altLang="en-US" b="1" dirty="0" smtClean="0">
                <a:solidFill>
                  <a:srgbClr val="333333"/>
                </a:solidFill>
              </a:rPr>
              <a:t>智慧</a:t>
            </a:r>
            <a:r>
              <a:rPr lang="zh-TW" altLang="en-US" b="1" dirty="0">
                <a:solidFill>
                  <a:srgbClr val="333333"/>
                </a:solidFill>
              </a:rPr>
              <a:t>食譜推薦系統</a:t>
            </a:r>
            <a:endParaRPr lang="zh-TW" altLang="en-US" b="1" dirty="0">
              <a:solidFill>
                <a:srgbClr val="000000"/>
              </a:solidFill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57600"/>
            <a:ext cx="9144000" cy="1655762"/>
          </a:xfrm>
        </p:spPr>
        <p:txBody>
          <a:bodyPr>
            <a:normAutofit/>
          </a:bodyPr>
          <a:lstStyle/>
          <a:p>
            <a:r>
              <a:rPr lang="zh-TW" altLang="en-US" sz="1800" dirty="0" smtClean="0">
                <a:solidFill>
                  <a:srgbClr val="505050"/>
                </a:solidFill>
              </a:rPr>
              <a:t>後端開發：游鄤蔆 </a:t>
            </a:r>
            <a:r>
              <a:rPr lang="en-US" altLang="zh-TW" sz="1800" dirty="0" smtClean="0">
                <a:solidFill>
                  <a:srgbClr val="505050"/>
                </a:solidFill>
              </a:rPr>
              <a:t>(B11317041)</a:t>
            </a:r>
          </a:p>
          <a:p>
            <a:r>
              <a:rPr lang="zh-TW" altLang="en-US" sz="1800" dirty="0" smtClean="0">
                <a:solidFill>
                  <a:srgbClr val="505050"/>
                </a:solidFill>
              </a:rPr>
              <a:t>產品經理：鄭筑文 </a:t>
            </a:r>
            <a:r>
              <a:rPr lang="en-US" altLang="zh-TW" sz="1800" dirty="0" smtClean="0">
                <a:solidFill>
                  <a:srgbClr val="505050"/>
                </a:solidFill>
              </a:rPr>
              <a:t>(B11317050)</a:t>
            </a:r>
          </a:p>
          <a:p>
            <a:r>
              <a:rPr lang="zh-TW" altLang="en-US" sz="1800" dirty="0" smtClean="0">
                <a:solidFill>
                  <a:srgbClr val="505050"/>
                </a:solidFill>
              </a:rPr>
              <a:t>部署整合：紀均宜 </a:t>
            </a:r>
            <a:r>
              <a:rPr lang="en-US" altLang="zh-TW" sz="1800" dirty="0" smtClean="0">
                <a:solidFill>
                  <a:srgbClr val="505050"/>
                </a:solidFill>
              </a:rPr>
              <a:t>(B11317021)</a:t>
            </a:r>
            <a:endParaRPr lang="zh-TW" altLang="en-US" sz="1800" dirty="0">
              <a:solidFill>
                <a:srgbClr val="505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1741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 txBox="1">
            <a:spLocks/>
          </p:cNvSpPr>
          <p:nvPr/>
        </p:nvSpPr>
        <p:spPr>
          <a:xfrm>
            <a:off x="3982720" y="3068320"/>
            <a:ext cx="3677920" cy="995680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TW" altLang="en-US" sz="6000" b="1" dirty="0" smtClean="0">
                <a:solidFill>
                  <a:srgbClr val="333333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後端開發</a:t>
            </a:r>
            <a:endParaRPr lang="zh-TW" altLang="en-US" sz="6000" b="1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09165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系統架構設計 </a:t>
            </a:r>
            <a:r>
              <a:rPr lang="en-US" altLang="zh-TW" smtClean="0"/>
              <a:t>(System Architecture)</a:t>
            </a:r>
            <a:endParaRPr lang="zh-TW" altLang="en-US"/>
          </a:p>
        </p:txBody>
      </p:sp>
      <p:sp>
        <p:nvSpPr>
          <p:cNvPr id="3" name="圓角矩形 2"/>
          <p:cNvSpPr/>
          <p:nvPr/>
        </p:nvSpPr>
        <p:spPr>
          <a:xfrm>
            <a:off x="2352040" y="3047999"/>
            <a:ext cx="1905000" cy="1270000"/>
          </a:xfrm>
          <a:prstGeom prst="round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>
                <a:solidFill>
                  <a:srgbClr val="000000"/>
                </a:solidFill>
              </a:rPr>
              <a:t>Client</a:t>
            </a:r>
          </a:p>
          <a:p>
            <a:pPr algn="ctr"/>
            <a:r>
              <a:rPr lang="en-US" altLang="zh-TW" dirty="0" smtClean="0">
                <a:solidFill>
                  <a:srgbClr val="000000"/>
                </a:solidFill>
              </a:rPr>
              <a:t>(User/Mobile)</a:t>
            </a:r>
            <a:endParaRPr lang="zh-TW" altLang="en-US" dirty="0">
              <a:solidFill>
                <a:srgbClr val="000000"/>
              </a:solidFill>
            </a:endParaRPr>
          </a:p>
        </p:txBody>
      </p:sp>
      <p:sp>
        <p:nvSpPr>
          <p:cNvPr id="4" name="向右箭號 3"/>
          <p:cNvSpPr/>
          <p:nvPr/>
        </p:nvSpPr>
        <p:spPr>
          <a:xfrm>
            <a:off x="4384040" y="3492499"/>
            <a:ext cx="635000" cy="381000"/>
          </a:xfrm>
          <a:prstGeom prst="rightArrow">
            <a:avLst/>
          </a:prstGeom>
          <a:solidFill>
            <a:srgbClr val="2890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圓角矩形 4"/>
          <p:cNvSpPr/>
          <p:nvPr/>
        </p:nvSpPr>
        <p:spPr>
          <a:xfrm>
            <a:off x="5146040" y="2793999"/>
            <a:ext cx="2286000" cy="1778000"/>
          </a:xfrm>
          <a:prstGeom prst="roundRect">
            <a:avLst/>
          </a:prstGeom>
          <a:solidFill>
            <a:srgbClr val="2890D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Backend API</a:t>
            </a:r>
          </a:p>
          <a:p>
            <a:pPr algn="ctr"/>
            <a:r>
              <a:rPr lang="en-US" altLang="zh-TW" sz="1400" dirty="0" smtClean="0"/>
              <a:t>(</a:t>
            </a:r>
            <a:r>
              <a:rPr lang="en-US" altLang="zh-TW" sz="1400" dirty="0" err="1" smtClean="0"/>
              <a:t>FastAPI</a:t>
            </a:r>
            <a:r>
              <a:rPr lang="en-US" altLang="zh-TW" sz="1400" dirty="0" smtClean="0"/>
              <a:t>)</a:t>
            </a:r>
          </a:p>
          <a:p>
            <a:pPr algn="ctr"/>
            <a:endParaRPr lang="en-US" altLang="zh-TW" sz="1400" dirty="0" smtClean="0"/>
          </a:p>
          <a:p>
            <a:pPr algn="ctr"/>
            <a:r>
              <a:rPr lang="en-US" altLang="zh-TW" sz="1400" dirty="0" smtClean="0"/>
              <a:t>‧ </a:t>
            </a:r>
            <a:r>
              <a:rPr lang="en-US" altLang="zh-TW" sz="1400" dirty="0" err="1" smtClean="0"/>
              <a:t>Pydantic</a:t>
            </a:r>
            <a:r>
              <a:rPr lang="en-US" altLang="zh-TW" sz="1400" dirty="0" smtClean="0"/>
              <a:t> Validation</a:t>
            </a:r>
          </a:p>
          <a:p>
            <a:pPr algn="ctr"/>
            <a:r>
              <a:rPr lang="en-US" altLang="zh-TW" sz="1400" dirty="0" smtClean="0"/>
              <a:t>‧ Routing Logic</a:t>
            </a:r>
            <a:endParaRPr lang="zh-TW" altLang="en-US" sz="1400" dirty="0"/>
          </a:p>
        </p:txBody>
      </p:sp>
      <p:sp>
        <p:nvSpPr>
          <p:cNvPr id="6" name="向右箭號 5"/>
          <p:cNvSpPr/>
          <p:nvPr/>
        </p:nvSpPr>
        <p:spPr>
          <a:xfrm>
            <a:off x="7559040" y="3492499"/>
            <a:ext cx="635000" cy="381000"/>
          </a:xfrm>
          <a:prstGeom prst="rightArrow">
            <a:avLst/>
          </a:prstGeom>
          <a:solidFill>
            <a:srgbClr val="2890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圓柱 6"/>
          <p:cNvSpPr/>
          <p:nvPr/>
        </p:nvSpPr>
        <p:spPr>
          <a:xfrm>
            <a:off x="8321040" y="3047999"/>
            <a:ext cx="1905000" cy="1270000"/>
          </a:xfrm>
          <a:prstGeom prst="can">
            <a:avLst/>
          </a:prstGeom>
          <a:solidFill>
            <a:srgbClr val="E6E6E6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mtClean="0">
                <a:solidFill>
                  <a:srgbClr val="000000"/>
                </a:solidFill>
              </a:rPr>
              <a:t>Data Layer</a:t>
            </a:r>
          </a:p>
          <a:p>
            <a:pPr algn="ctr"/>
            <a:r>
              <a:rPr lang="en-US" altLang="zh-TW" smtClean="0">
                <a:solidFill>
                  <a:srgbClr val="000000"/>
                </a:solidFill>
              </a:rPr>
              <a:t>(List of Dicts)</a:t>
            </a:r>
            <a:endParaRPr lang="zh-TW" altLang="en-US">
              <a:solidFill>
                <a:srgbClr val="000000"/>
              </a:solidFill>
            </a:endParaRPr>
          </a:p>
        </p:txBody>
      </p:sp>
      <p:sp>
        <p:nvSpPr>
          <p:cNvPr id="8" name="文字方塊 7"/>
          <p:cNvSpPr txBox="1"/>
          <p:nvPr/>
        </p:nvSpPr>
        <p:spPr>
          <a:xfrm>
            <a:off x="2286000" y="5079999"/>
            <a:ext cx="7620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架構流程：使用者輸入食材 </a:t>
            </a:r>
            <a:r>
              <a:rPr lang="en-US" altLang="zh-TW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(Request) → </a:t>
            </a:r>
            <a:r>
              <a:rPr lang="en-US" altLang="zh-TW" sz="1600" dirty="0" err="1" smtClean="0">
                <a:latin typeface="標楷體" panose="03000509000000000000" pitchFamily="65" charset="-120"/>
                <a:ea typeface="標楷體" panose="03000509000000000000" pitchFamily="65" charset="-120"/>
              </a:rPr>
              <a:t>FastAPI</a:t>
            </a:r>
            <a:r>
              <a:rPr lang="en-US" altLang="zh-TW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進行驗證與搜尋演算法 → </a:t>
            </a:r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從資料庫撈取食譜資料→ </a:t>
            </a:r>
            <a:r>
              <a:rPr lang="zh-TW" altLang="en-US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回傳結果 </a:t>
            </a:r>
            <a:r>
              <a:rPr lang="en-US" altLang="zh-TW" sz="16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(Response)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28152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資料結構設計 </a:t>
            </a:r>
            <a:r>
              <a:rPr lang="en-US" altLang="zh-TW" dirty="0" smtClean="0"/>
              <a:t>(Mock Database)</a:t>
            </a:r>
            <a:endParaRPr lang="zh-TW" altLang="en-US" dirty="0"/>
          </a:p>
        </p:txBody>
      </p:sp>
      <p:sp>
        <p:nvSpPr>
          <p:cNvPr id="3" name="文字方塊 2"/>
          <p:cNvSpPr txBox="1"/>
          <p:nvPr/>
        </p:nvSpPr>
        <p:spPr>
          <a:xfrm>
            <a:off x="1295402" y="2458720"/>
            <a:ext cx="3175000" cy="258532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利用字典模擬資料庫。</a:t>
            </a:r>
          </a:p>
          <a:p>
            <a:endParaRPr lang="zh-TW" altLang="en-US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彈性結構：方便快速迭代       與測試。</a:t>
            </a:r>
          </a:p>
          <a:p>
            <a:endParaRPr lang="zh-TW" altLang="en-US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‧ 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主要欄位：</a:t>
            </a: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- Name (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菜名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 - Ingredients (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食材清單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 - Steps (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步驟陣列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5" name="文字方塊 4"/>
          <p:cNvSpPr txBox="1"/>
          <p:nvPr/>
        </p:nvSpPr>
        <p:spPr>
          <a:xfrm>
            <a:off x="5781040" y="2458719"/>
            <a:ext cx="4744720" cy="3970318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>
            <a:defPPr>
              <a:defRPr lang="zh-TW"/>
            </a:defPPr>
          </a:lstStyle>
          <a:p>
            <a:r>
              <a:rPr lang="en-US" altLang="zh-TW" dirty="0" err="1" smtClean="0">
                <a:solidFill>
                  <a:schemeClr val="bg1"/>
                </a:solidFill>
              </a:rPr>
              <a:t>recipes_db</a:t>
            </a:r>
            <a:r>
              <a:rPr lang="en-US" altLang="zh-TW" dirty="0" smtClean="0">
                <a:solidFill>
                  <a:schemeClr val="bg1"/>
                </a:solidFill>
              </a:rPr>
              <a:t> </a:t>
            </a:r>
            <a:r>
              <a:rPr lang="en-US" altLang="zh-TW" dirty="0">
                <a:solidFill>
                  <a:schemeClr val="bg1"/>
                </a:solidFill>
              </a:rPr>
              <a:t>= [</a:t>
            </a:r>
          </a:p>
          <a:p>
            <a:r>
              <a:rPr lang="en-US" altLang="zh-TW" dirty="0">
                <a:solidFill>
                  <a:schemeClr val="bg1"/>
                </a:solidFill>
              </a:rPr>
              <a:t>    {</a:t>
            </a:r>
          </a:p>
          <a:p>
            <a:r>
              <a:rPr lang="en-US" altLang="zh-TW" dirty="0">
                <a:solidFill>
                  <a:schemeClr val="bg1"/>
                </a:solidFill>
              </a:rPr>
              <a:t>        "name": "</a:t>
            </a:r>
            <a:r>
              <a:rPr lang="zh-TW" altLang="en-US" dirty="0">
                <a:solidFill>
                  <a:schemeClr val="bg1"/>
                </a:solidFill>
              </a:rPr>
              <a:t>番茄炒蛋</a:t>
            </a:r>
            <a:r>
              <a:rPr lang="en-US" altLang="zh-TW" dirty="0">
                <a:solidFill>
                  <a:schemeClr val="bg1"/>
                </a:solidFill>
              </a:rPr>
              <a:t>",</a:t>
            </a:r>
          </a:p>
          <a:p>
            <a:r>
              <a:rPr lang="en-US" altLang="zh-TW" dirty="0">
                <a:solidFill>
                  <a:schemeClr val="bg1"/>
                </a:solidFill>
              </a:rPr>
              <a:t>        "ingredients": ["egg", "tomato"],</a:t>
            </a:r>
          </a:p>
          <a:p>
            <a:r>
              <a:rPr lang="en-US" altLang="zh-TW" dirty="0">
                <a:solidFill>
                  <a:schemeClr val="bg1"/>
                </a:solidFill>
              </a:rPr>
              <a:t>        "steps": ["</a:t>
            </a:r>
            <a:r>
              <a:rPr lang="zh-TW" altLang="en-US" dirty="0">
                <a:solidFill>
                  <a:schemeClr val="bg1"/>
                </a:solidFill>
              </a:rPr>
              <a:t>切番茄</a:t>
            </a:r>
            <a:r>
              <a:rPr lang="en-US" altLang="zh-TW" dirty="0">
                <a:solidFill>
                  <a:schemeClr val="bg1"/>
                </a:solidFill>
              </a:rPr>
              <a:t>", "</a:t>
            </a:r>
            <a:r>
              <a:rPr lang="zh-TW" altLang="en-US" dirty="0">
                <a:solidFill>
                  <a:schemeClr val="bg1"/>
                </a:solidFill>
              </a:rPr>
              <a:t>打蛋</a:t>
            </a:r>
            <a:r>
              <a:rPr lang="en-US" altLang="zh-TW" dirty="0">
                <a:solidFill>
                  <a:schemeClr val="bg1"/>
                </a:solidFill>
              </a:rPr>
              <a:t>", "</a:t>
            </a:r>
            <a:r>
              <a:rPr lang="zh-TW" altLang="en-US" dirty="0">
                <a:solidFill>
                  <a:schemeClr val="bg1"/>
                </a:solidFill>
              </a:rPr>
              <a:t>下鍋炒</a:t>
            </a:r>
            <a:r>
              <a:rPr lang="en-US" altLang="zh-TW" dirty="0">
                <a:solidFill>
                  <a:schemeClr val="bg1"/>
                </a:solidFill>
              </a:rPr>
              <a:t>"],</a:t>
            </a:r>
          </a:p>
          <a:p>
            <a:r>
              <a:rPr lang="en-US" altLang="zh-TW" dirty="0">
                <a:solidFill>
                  <a:schemeClr val="bg1"/>
                </a:solidFill>
              </a:rPr>
              <a:t>   </a:t>
            </a:r>
            <a:r>
              <a:rPr lang="en-US" altLang="zh-TW" dirty="0" smtClean="0">
                <a:solidFill>
                  <a:schemeClr val="bg1"/>
                </a:solidFill>
              </a:rPr>
              <a:t> },{</a:t>
            </a:r>
            <a:endParaRPr lang="en-US" altLang="zh-TW" dirty="0">
              <a:solidFill>
                <a:schemeClr val="bg1"/>
              </a:solidFill>
            </a:endParaRPr>
          </a:p>
          <a:p>
            <a:r>
              <a:rPr lang="en-US" altLang="zh-TW" dirty="0">
                <a:solidFill>
                  <a:schemeClr val="bg1"/>
                </a:solidFill>
              </a:rPr>
              <a:t>        "name": "</a:t>
            </a:r>
            <a:r>
              <a:rPr lang="zh-TW" altLang="en-US" dirty="0">
                <a:solidFill>
                  <a:schemeClr val="bg1"/>
                </a:solidFill>
              </a:rPr>
              <a:t>蛋花湯</a:t>
            </a:r>
            <a:r>
              <a:rPr lang="en-US" altLang="zh-TW" dirty="0">
                <a:solidFill>
                  <a:schemeClr val="bg1"/>
                </a:solidFill>
              </a:rPr>
              <a:t>",</a:t>
            </a:r>
          </a:p>
          <a:p>
            <a:r>
              <a:rPr lang="en-US" altLang="zh-TW" dirty="0">
                <a:solidFill>
                  <a:schemeClr val="bg1"/>
                </a:solidFill>
              </a:rPr>
              <a:t>        "ingredients": ["egg", "water"],</a:t>
            </a:r>
          </a:p>
          <a:p>
            <a:r>
              <a:rPr lang="en-US" altLang="zh-TW" dirty="0">
                <a:solidFill>
                  <a:schemeClr val="bg1"/>
                </a:solidFill>
              </a:rPr>
              <a:t>        "steps": ["</a:t>
            </a:r>
            <a:r>
              <a:rPr lang="zh-TW" altLang="en-US" dirty="0">
                <a:solidFill>
                  <a:schemeClr val="bg1"/>
                </a:solidFill>
              </a:rPr>
              <a:t>煮水</a:t>
            </a:r>
            <a:r>
              <a:rPr lang="en-US" altLang="zh-TW" dirty="0">
                <a:solidFill>
                  <a:schemeClr val="bg1"/>
                </a:solidFill>
              </a:rPr>
              <a:t>", "</a:t>
            </a:r>
            <a:r>
              <a:rPr lang="zh-TW" altLang="en-US" dirty="0">
                <a:solidFill>
                  <a:schemeClr val="bg1"/>
                </a:solidFill>
              </a:rPr>
              <a:t>打蛋</a:t>
            </a:r>
            <a:r>
              <a:rPr lang="en-US" altLang="zh-TW" dirty="0">
                <a:solidFill>
                  <a:schemeClr val="bg1"/>
                </a:solidFill>
              </a:rPr>
              <a:t>", "</a:t>
            </a:r>
            <a:r>
              <a:rPr lang="zh-TW" altLang="en-US" dirty="0">
                <a:solidFill>
                  <a:schemeClr val="bg1"/>
                </a:solidFill>
              </a:rPr>
              <a:t>慢慢倒進鍋裡</a:t>
            </a:r>
            <a:r>
              <a:rPr lang="en-US" altLang="zh-TW" dirty="0" smtClean="0">
                <a:solidFill>
                  <a:schemeClr val="bg1"/>
                </a:solidFill>
              </a:rPr>
              <a:t>"],</a:t>
            </a:r>
          </a:p>
          <a:p>
            <a:r>
              <a:rPr lang="en-US" altLang="zh-TW" dirty="0" smtClean="0">
                <a:solidFill>
                  <a:schemeClr val="bg1"/>
                </a:solidFill>
              </a:rPr>
              <a:t>    },{</a:t>
            </a:r>
            <a:endParaRPr lang="en-US" altLang="zh-TW" dirty="0">
              <a:solidFill>
                <a:schemeClr val="bg1"/>
              </a:solidFill>
            </a:endParaRPr>
          </a:p>
          <a:p>
            <a:r>
              <a:rPr lang="en-US" altLang="zh-TW" dirty="0">
                <a:solidFill>
                  <a:schemeClr val="bg1"/>
                </a:solidFill>
              </a:rPr>
              <a:t>        "name": "</a:t>
            </a:r>
            <a:r>
              <a:rPr lang="zh-TW" altLang="en-US" dirty="0">
                <a:solidFill>
                  <a:schemeClr val="bg1"/>
                </a:solidFill>
              </a:rPr>
              <a:t>炒飯</a:t>
            </a:r>
            <a:r>
              <a:rPr lang="en-US" altLang="zh-TW" dirty="0">
                <a:solidFill>
                  <a:schemeClr val="bg1"/>
                </a:solidFill>
              </a:rPr>
              <a:t>",</a:t>
            </a:r>
          </a:p>
          <a:p>
            <a:r>
              <a:rPr lang="en-US" altLang="zh-TW" dirty="0">
                <a:solidFill>
                  <a:schemeClr val="bg1"/>
                </a:solidFill>
              </a:rPr>
              <a:t>        "ingredients": ["rice", "egg"],</a:t>
            </a:r>
          </a:p>
          <a:p>
            <a:r>
              <a:rPr lang="en-US" altLang="zh-TW" dirty="0">
                <a:solidFill>
                  <a:schemeClr val="bg1"/>
                </a:solidFill>
              </a:rPr>
              <a:t>        "steps": ["</a:t>
            </a:r>
            <a:r>
              <a:rPr lang="zh-TW" altLang="en-US" dirty="0">
                <a:solidFill>
                  <a:schemeClr val="bg1"/>
                </a:solidFill>
              </a:rPr>
              <a:t>熱鍋</a:t>
            </a:r>
            <a:r>
              <a:rPr lang="en-US" altLang="zh-TW" dirty="0">
                <a:solidFill>
                  <a:schemeClr val="bg1"/>
                </a:solidFill>
              </a:rPr>
              <a:t>", "</a:t>
            </a:r>
            <a:r>
              <a:rPr lang="zh-TW" altLang="en-US" dirty="0">
                <a:solidFill>
                  <a:schemeClr val="bg1"/>
                </a:solidFill>
              </a:rPr>
              <a:t>下飯</a:t>
            </a:r>
            <a:r>
              <a:rPr lang="en-US" altLang="zh-TW" dirty="0">
                <a:solidFill>
                  <a:schemeClr val="bg1"/>
                </a:solidFill>
              </a:rPr>
              <a:t>", "</a:t>
            </a:r>
            <a:r>
              <a:rPr lang="zh-TW" altLang="en-US" dirty="0">
                <a:solidFill>
                  <a:schemeClr val="bg1"/>
                </a:solidFill>
              </a:rPr>
              <a:t>加蛋</a:t>
            </a:r>
            <a:r>
              <a:rPr lang="en-US" altLang="zh-TW" dirty="0">
                <a:solidFill>
                  <a:schemeClr val="bg1"/>
                </a:solidFill>
              </a:rPr>
              <a:t>"],</a:t>
            </a:r>
          </a:p>
          <a:p>
            <a:r>
              <a:rPr lang="en-US" altLang="zh-TW" dirty="0">
                <a:solidFill>
                  <a:schemeClr val="bg1"/>
                </a:solidFill>
              </a:rPr>
              <a:t>    </a:t>
            </a:r>
            <a:r>
              <a:rPr lang="en-US" altLang="zh-TW" dirty="0" smtClean="0">
                <a:solidFill>
                  <a:schemeClr val="bg1"/>
                </a:solidFill>
              </a:rPr>
              <a:t>}]</a:t>
            </a:r>
            <a:endParaRPr lang="en-US" altLang="zh-TW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8459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核心功能實作：搜尋演算法</a:t>
            </a:r>
            <a:endParaRPr lang="zh-TW" altLang="en-US"/>
          </a:p>
        </p:txBody>
      </p:sp>
      <p:sp>
        <p:nvSpPr>
          <p:cNvPr id="3" name="矩形 2"/>
          <p:cNvSpPr/>
          <p:nvPr/>
        </p:nvSpPr>
        <p:spPr>
          <a:xfrm>
            <a:off x="2057400" y="2458720"/>
            <a:ext cx="7747000" cy="3820160"/>
          </a:xfrm>
          <a:prstGeom prst="rect">
            <a:avLst/>
          </a:prstGeom>
          <a:solidFill>
            <a:srgbClr val="28282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400" dirty="0">
                <a:solidFill>
                  <a:srgbClr val="569CD6"/>
                </a:solidFill>
                <a:latin typeface="Consolas" panose="020B0609020204030204" pitchFamily="49" charset="0"/>
              </a:rPr>
              <a:t>class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400" dirty="0" err="1">
                <a:solidFill>
                  <a:srgbClr val="4EC9B0"/>
                </a:solidFill>
                <a:latin typeface="Consolas" panose="020B0609020204030204" pitchFamily="49" charset="0"/>
              </a:rPr>
              <a:t>SearchRequest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zh-TW" sz="1400" dirty="0" err="1">
                <a:solidFill>
                  <a:srgbClr val="4EC9B0"/>
                </a:solidFill>
                <a:latin typeface="Consolas" panose="020B0609020204030204" pitchFamily="49" charset="0"/>
              </a:rPr>
              <a:t>BaseModel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zh-TW" sz="1400" dirty="0">
                <a:solidFill>
                  <a:srgbClr val="9CDCFE"/>
                </a:solidFill>
                <a:latin typeface="Consolas" panose="020B0609020204030204" pitchFamily="49" charset="0"/>
              </a:rPr>
              <a:t>ingredient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zh-TW" sz="1400" dirty="0" err="1">
                <a:solidFill>
                  <a:srgbClr val="4EC9B0"/>
                </a:solidFill>
                <a:latin typeface="Consolas" panose="020B0609020204030204" pitchFamily="49" charset="0"/>
              </a:rPr>
              <a:t>str</a:t>
            </a:r>
            <a:endParaRPr lang="en-US" altLang="zh-TW" sz="14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US" altLang="zh-TW" sz="1400" dirty="0">
                <a:solidFill>
                  <a:srgbClr val="DCDCAA"/>
                </a:solidFill>
                <a:latin typeface="Consolas" panose="020B0609020204030204" pitchFamily="49" charset="0"/>
              </a:rPr>
              <a:t>@</a:t>
            </a:r>
            <a:r>
              <a:rPr lang="en-US" altLang="zh-TW" sz="1400" dirty="0" err="1">
                <a:solidFill>
                  <a:srgbClr val="9CDCFE"/>
                </a:solidFill>
                <a:latin typeface="Consolas" panose="020B0609020204030204" pitchFamily="49" charset="0"/>
              </a:rPr>
              <a:t>app</a:t>
            </a:r>
            <a:r>
              <a:rPr lang="en-US" altLang="zh-TW" sz="1400" dirty="0" err="1">
                <a:solidFill>
                  <a:srgbClr val="DCDCAA"/>
                </a:solidFill>
                <a:latin typeface="Consolas" panose="020B0609020204030204" pitchFamily="49" charset="0"/>
              </a:rPr>
              <a:t>.get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zh-TW" sz="1400" dirty="0">
                <a:solidFill>
                  <a:srgbClr val="CE9178"/>
                </a:solidFill>
                <a:latin typeface="Consolas" panose="020B0609020204030204" pitchFamily="49" charset="0"/>
              </a:rPr>
              <a:t>"/ping"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zh-TW" sz="1400" dirty="0" err="1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400" dirty="0">
                <a:solidFill>
                  <a:srgbClr val="DCDCAA"/>
                </a:solidFill>
                <a:latin typeface="Consolas" panose="020B0609020204030204" pitchFamily="49" charset="0"/>
              </a:rPr>
              <a:t>ping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():</a:t>
            </a:r>
          </a:p>
          <a:p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zh-TW" sz="14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altLang="zh-TW" sz="1400" dirty="0">
                <a:solidFill>
                  <a:srgbClr val="CE9178"/>
                </a:solidFill>
                <a:latin typeface="Consolas" panose="020B0609020204030204" pitchFamily="49" charset="0"/>
              </a:rPr>
              <a:t>"</a:t>
            </a:r>
            <a:r>
              <a:rPr lang="en-US" altLang="zh-TW" sz="1400" dirty="0" err="1">
                <a:solidFill>
                  <a:srgbClr val="CE9178"/>
                </a:solidFill>
                <a:latin typeface="Consolas" panose="020B0609020204030204" pitchFamily="49" charset="0"/>
              </a:rPr>
              <a:t>msg</a:t>
            </a:r>
            <a:r>
              <a:rPr lang="en-US" altLang="zh-TW" sz="1400" dirty="0">
                <a:solidFill>
                  <a:srgbClr val="CE9178"/>
                </a:solidFill>
                <a:latin typeface="Consolas" panose="020B0609020204030204" pitchFamily="49" charset="0"/>
              </a:rPr>
              <a:t>"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zh-TW" sz="1400" dirty="0">
                <a:solidFill>
                  <a:srgbClr val="CE9178"/>
                </a:solidFill>
                <a:latin typeface="Consolas" panose="020B0609020204030204" pitchFamily="49" charset="0"/>
              </a:rPr>
              <a:t>"pong"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US" altLang="zh-TW" sz="1400" dirty="0">
                <a:solidFill>
                  <a:srgbClr val="DCDCAA"/>
                </a:solidFill>
                <a:latin typeface="Consolas" panose="020B0609020204030204" pitchFamily="49" charset="0"/>
              </a:rPr>
              <a:t>@</a:t>
            </a:r>
            <a:r>
              <a:rPr lang="en-US" altLang="zh-TW" sz="1400" dirty="0" err="1">
                <a:solidFill>
                  <a:srgbClr val="9CDCFE"/>
                </a:solidFill>
                <a:latin typeface="Consolas" panose="020B0609020204030204" pitchFamily="49" charset="0"/>
              </a:rPr>
              <a:t>app</a:t>
            </a:r>
            <a:r>
              <a:rPr lang="en-US" altLang="zh-TW" sz="1400" dirty="0" err="1">
                <a:solidFill>
                  <a:srgbClr val="DCDCAA"/>
                </a:solidFill>
                <a:latin typeface="Consolas" panose="020B0609020204030204" pitchFamily="49" charset="0"/>
              </a:rPr>
              <a:t>.post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zh-TW" sz="1400" dirty="0">
                <a:solidFill>
                  <a:srgbClr val="CE9178"/>
                </a:solidFill>
                <a:latin typeface="Consolas" panose="020B0609020204030204" pitchFamily="49" charset="0"/>
              </a:rPr>
              <a:t>"/recipes/search"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altLang="zh-TW" sz="1400" dirty="0" err="1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400" dirty="0" err="1">
                <a:solidFill>
                  <a:srgbClr val="DCDCAA"/>
                </a:solidFill>
                <a:latin typeface="Consolas" panose="020B0609020204030204" pitchFamily="49" charset="0"/>
              </a:rPr>
              <a:t>search_recipes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zh-TW" sz="1400" dirty="0">
                <a:solidFill>
                  <a:srgbClr val="9CDCFE"/>
                </a:solidFill>
                <a:latin typeface="Consolas" panose="020B0609020204030204" pitchFamily="49" charset="0"/>
              </a:rPr>
              <a:t>request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zh-TW" sz="1400" dirty="0" err="1">
                <a:solidFill>
                  <a:srgbClr val="4EC9B0"/>
                </a:solidFill>
                <a:latin typeface="Consolas" panose="020B0609020204030204" pitchFamily="49" charset="0"/>
              </a:rPr>
              <a:t>SearchRequest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zh-TW" sz="1400" dirty="0">
                <a:solidFill>
                  <a:srgbClr val="9CDCFE"/>
                </a:solidFill>
                <a:latin typeface="Consolas" panose="020B0609020204030204" pitchFamily="49" charset="0"/>
              </a:rPr>
              <a:t>keyword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4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400" dirty="0" err="1">
                <a:solidFill>
                  <a:srgbClr val="9CDCFE"/>
                </a:solidFill>
                <a:latin typeface="Consolas" panose="020B0609020204030204" pitchFamily="49" charset="0"/>
              </a:rPr>
              <a:t>request</a:t>
            </a:r>
            <a:r>
              <a:rPr lang="en-US" altLang="zh-TW" sz="14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1400" dirty="0" err="1">
                <a:solidFill>
                  <a:srgbClr val="9CDCFE"/>
                </a:solidFill>
                <a:latin typeface="Consolas" panose="020B0609020204030204" pitchFamily="49" charset="0"/>
              </a:rPr>
              <a:t>ingredient</a:t>
            </a:r>
            <a:r>
              <a:rPr lang="en-US" altLang="zh-TW" sz="14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1400" dirty="0" err="1">
                <a:solidFill>
                  <a:srgbClr val="DCDCAA"/>
                </a:solidFill>
                <a:latin typeface="Consolas" panose="020B0609020204030204" pitchFamily="49" charset="0"/>
              </a:rPr>
              <a:t>lower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zh-TW" sz="1400" dirty="0">
                <a:solidFill>
                  <a:srgbClr val="9CDCFE"/>
                </a:solidFill>
                <a:latin typeface="Consolas" panose="020B0609020204030204" pitchFamily="49" charset="0"/>
              </a:rPr>
              <a:t>results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4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 []</a:t>
            </a:r>
          </a:p>
          <a:p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zh-TW" sz="14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400" dirty="0">
                <a:solidFill>
                  <a:srgbClr val="9CDCFE"/>
                </a:solidFill>
                <a:latin typeface="Consolas" panose="020B0609020204030204" pitchFamily="49" charset="0"/>
              </a:rPr>
              <a:t>r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4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400" dirty="0" err="1">
                <a:solidFill>
                  <a:srgbClr val="9CDCFE"/>
                </a:solidFill>
                <a:latin typeface="Consolas" panose="020B0609020204030204" pitchFamily="49" charset="0"/>
              </a:rPr>
              <a:t>recipes_db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zh-TW" sz="1400" dirty="0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400" dirty="0">
                <a:solidFill>
                  <a:srgbClr val="9CDCFE"/>
                </a:solidFill>
                <a:latin typeface="Consolas" panose="020B0609020204030204" pitchFamily="49" charset="0"/>
              </a:rPr>
              <a:t>keyword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400" dirty="0">
                <a:solidFill>
                  <a:srgbClr val="569CD6"/>
                </a:solidFill>
                <a:latin typeface="Consolas" panose="020B0609020204030204" pitchFamily="49" charset="0"/>
              </a:rPr>
              <a:t>in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400" dirty="0">
                <a:solidFill>
                  <a:srgbClr val="9CDCFE"/>
                </a:solidFill>
                <a:latin typeface="Consolas" panose="020B0609020204030204" pitchFamily="49" charset="0"/>
              </a:rPr>
              <a:t>r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 altLang="zh-TW" sz="1400" dirty="0">
                <a:solidFill>
                  <a:srgbClr val="CE9178"/>
                </a:solidFill>
                <a:latin typeface="Consolas" panose="020B0609020204030204" pitchFamily="49" charset="0"/>
              </a:rPr>
              <a:t>"ingredients"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]:</a:t>
            </a:r>
          </a:p>
          <a:p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zh-TW" sz="1400" dirty="0" err="1">
                <a:solidFill>
                  <a:srgbClr val="9CDCFE"/>
                </a:solidFill>
                <a:latin typeface="Consolas" panose="020B0609020204030204" pitchFamily="49" charset="0"/>
              </a:rPr>
              <a:t>results</a:t>
            </a:r>
            <a:r>
              <a:rPr lang="en-US" altLang="zh-TW" sz="14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en-US" altLang="zh-TW" sz="1400" dirty="0" err="1">
                <a:solidFill>
                  <a:srgbClr val="DCDCAA"/>
                </a:solidFill>
                <a:latin typeface="Consolas" panose="020B0609020204030204" pitchFamily="49" charset="0"/>
              </a:rPr>
              <a:t>append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({</a:t>
            </a:r>
            <a:r>
              <a:rPr lang="en-US" altLang="zh-TW" sz="1400" dirty="0">
                <a:solidFill>
                  <a:srgbClr val="CE9178"/>
                </a:solidFill>
                <a:latin typeface="Consolas" panose="020B0609020204030204" pitchFamily="49" charset="0"/>
              </a:rPr>
              <a:t>"name"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zh-TW" sz="1400" dirty="0">
                <a:solidFill>
                  <a:srgbClr val="9CDCFE"/>
                </a:solidFill>
                <a:latin typeface="Consolas" panose="020B0609020204030204" pitchFamily="49" charset="0"/>
              </a:rPr>
              <a:t>r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 altLang="zh-TW" sz="1400" dirty="0">
                <a:solidFill>
                  <a:srgbClr val="CE9178"/>
                </a:solidFill>
                <a:latin typeface="Consolas" panose="020B0609020204030204" pitchFamily="49" charset="0"/>
              </a:rPr>
              <a:t>"name"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], </a:t>
            </a:r>
            <a:r>
              <a:rPr lang="en-US" altLang="zh-TW" sz="1400" dirty="0">
                <a:solidFill>
                  <a:srgbClr val="CE9178"/>
                </a:solidFill>
                <a:latin typeface="Consolas" panose="020B0609020204030204" pitchFamily="49" charset="0"/>
              </a:rPr>
              <a:t>"ingredients"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zh-TW" sz="1400" dirty="0">
                <a:solidFill>
                  <a:srgbClr val="9CDCFE"/>
                </a:solidFill>
                <a:latin typeface="Consolas" panose="020B0609020204030204" pitchFamily="49" charset="0"/>
              </a:rPr>
              <a:t>r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en-US" altLang="zh-TW" sz="1400" dirty="0">
                <a:solidFill>
                  <a:srgbClr val="CE9178"/>
                </a:solidFill>
                <a:latin typeface="Consolas" panose="020B0609020204030204" pitchFamily="49" charset="0"/>
              </a:rPr>
              <a:t>"ingredients"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]})</a:t>
            </a:r>
          </a:p>
          <a:p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en-US" altLang="zh-TW" sz="14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en-US" altLang="zh-TW" sz="1400" dirty="0">
                <a:solidFill>
                  <a:srgbClr val="CE9178"/>
                </a:solidFill>
                <a:latin typeface="Consolas" panose="020B0609020204030204" pitchFamily="49" charset="0"/>
              </a:rPr>
              <a:t>"count"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zh-TW" sz="1400" dirty="0" err="1">
                <a:solidFill>
                  <a:srgbClr val="DCDCAA"/>
                </a:solidFill>
                <a:latin typeface="Consolas" panose="020B0609020204030204" pitchFamily="49" charset="0"/>
              </a:rPr>
              <a:t>len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en-US" altLang="zh-TW" sz="1400" dirty="0">
                <a:solidFill>
                  <a:srgbClr val="9CDCFE"/>
                </a:solidFill>
                <a:latin typeface="Consolas" panose="020B0609020204030204" pitchFamily="49" charset="0"/>
              </a:rPr>
              <a:t>results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en-US" altLang="zh-TW" sz="1400" dirty="0">
                <a:solidFill>
                  <a:srgbClr val="CE9178"/>
                </a:solidFill>
                <a:latin typeface="Consolas" panose="020B0609020204030204" pitchFamily="49" charset="0"/>
              </a:rPr>
              <a:t>"recipes"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en-US" altLang="zh-TW" sz="1400" dirty="0">
                <a:solidFill>
                  <a:srgbClr val="9CDCFE"/>
                </a:solidFill>
                <a:latin typeface="Consolas" panose="020B0609020204030204" pitchFamily="49" charset="0"/>
              </a:rPr>
              <a:t>results</a:t>
            </a:r>
            <a:r>
              <a:rPr lang="en-US" altLang="zh-TW" sz="14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  <a:endParaRPr lang="en-US" altLang="zh-TW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20315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功能驗證：</a:t>
            </a:r>
            <a:r>
              <a:rPr lang="en-US" altLang="zh-TW" smtClean="0"/>
              <a:t>API </a:t>
            </a:r>
            <a:r>
              <a:rPr lang="zh-TW" altLang="en-US" smtClean="0"/>
              <a:t>測試結果</a:t>
            </a:r>
            <a:endParaRPr lang="zh-TW" altLang="en-US"/>
          </a:p>
        </p:txBody>
      </p:sp>
      <p:sp>
        <p:nvSpPr>
          <p:cNvPr id="3" name="矩形 2"/>
          <p:cNvSpPr/>
          <p:nvPr/>
        </p:nvSpPr>
        <p:spPr>
          <a:xfrm>
            <a:off x="2402840" y="2824480"/>
            <a:ext cx="3175000" cy="2540000"/>
          </a:xfrm>
          <a:prstGeom prst="rect">
            <a:avLst/>
          </a:prstGeom>
          <a:solidFill>
            <a:srgbClr val="F0F0F0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 smtClean="0">
                <a:solidFill>
                  <a:srgbClr val="000000"/>
                </a:solidFill>
                <a:latin typeface="Consolas" panose="020B0609020204030204" pitchFamily="49" charset="0"/>
              </a:rPr>
              <a:t>REQUEST (Client)</a:t>
            </a:r>
          </a:p>
          <a:p>
            <a:r>
              <a:rPr lang="en-US" altLang="zh-TW" dirty="0" smtClean="0">
                <a:solidFill>
                  <a:srgbClr val="000000"/>
                </a:solidFill>
                <a:latin typeface="Consolas" panose="020B0609020204030204" pitchFamily="49" charset="0"/>
              </a:rPr>
              <a:t>POST /recipes/search</a:t>
            </a:r>
          </a:p>
          <a:p>
            <a:endParaRPr lang="en-US" altLang="zh-TW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altLang="zh-TW" dirty="0" smtClean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zh-TW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 "ingredient": "egg"</a:t>
            </a:r>
          </a:p>
          <a:p>
            <a:r>
              <a:rPr lang="en-US" altLang="zh-TW" dirty="0" smtClean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zh-TW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向右箭號 3"/>
          <p:cNvSpPr/>
          <p:nvPr/>
        </p:nvSpPr>
        <p:spPr>
          <a:xfrm>
            <a:off x="5831840" y="3840480"/>
            <a:ext cx="1016000" cy="508000"/>
          </a:xfrm>
          <a:prstGeom prst="rightArrow">
            <a:avLst/>
          </a:prstGeom>
          <a:solidFill>
            <a:srgbClr val="2890D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/>
          <p:cNvSpPr/>
          <p:nvPr/>
        </p:nvSpPr>
        <p:spPr>
          <a:xfrm>
            <a:off x="7101840" y="2692400"/>
            <a:ext cx="3175000" cy="3007360"/>
          </a:xfrm>
          <a:prstGeom prst="rect">
            <a:avLst/>
          </a:prstGeom>
          <a:solidFill>
            <a:srgbClr val="28282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 smtClean="0">
                <a:solidFill>
                  <a:schemeClr val="bg1"/>
                </a:solidFill>
                <a:latin typeface="Consolas" panose="020B0609020204030204" pitchFamily="49" charset="0"/>
              </a:rPr>
              <a:t>RESPONSE (Server)</a:t>
            </a:r>
          </a:p>
          <a:p>
            <a:r>
              <a:rPr lang="en-US" altLang="zh-TW" dirty="0" smtClean="0">
                <a:solidFill>
                  <a:schemeClr val="bg1"/>
                </a:solidFill>
                <a:latin typeface="Consolas" panose="020B0609020204030204" pitchFamily="49" charset="0"/>
              </a:rPr>
              <a:t>Status: 200 OK</a:t>
            </a:r>
          </a:p>
          <a:p>
            <a:endParaRPr lang="en-US" altLang="zh-TW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altLang="zh-TW" dirty="0" smtClean="0">
                <a:solidFill>
                  <a:schemeClr val="bg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zh-TW" dirty="0" smtClean="0">
                <a:solidFill>
                  <a:schemeClr val="bg1"/>
                </a:solidFill>
                <a:latin typeface="Consolas" panose="020B0609020204030204" pitchFamily="49" charset="0"/>
              </a:rPr>
              <a:t>  "count": 2,</a:t>
            </a:r>
          </a:p>
          <a:p>
            <a:r>
              <a:rPr lang="en-US" altLang="zh-TW" dirty="0" smtClean="0">
                <a:solidFill>
                  <a:schemeClr val="bg1"/>
                </a:solidFill>
                <a:latin typeface="Consolas" panose="020B0609020204030204" pitchFamily="49" charset="0"/>
              </a:rPr>
              <a:t>  "recipes": [</a:t>
            </a:r>
          </a:p>
          <a:p>
            <a:r>
              <a:rPr lang="en-US" altLang="zh-TW" dirty="0" smtClean="0">
                <a:solidFill>
                  <a:schemeClr val="bg1"/>
                </a:solidFill>
                <a:latin typeface="Consolas" panose="020B0609020204030204" pitchFamily="49" charset="0"/>
              </a:rPr>
              <a:t>    {"name": "</a:t>
            </a:r>
            <a:r>
              <a:rPr lang="zh-TW" alt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番茄炒蛋</a:t>
            </a:r>
            <a:r>
              <a:rPr lang="en-US" altLang="zh-TW" dirty="0" smtClean="0">
                <a:solidFill>
                  <a:schemeClr val="bg1"/>
                </a:solidFill>
                <a:latin typeface="Consolas" panose="020B0609020204030204" pitchFamily="49" charset="0"/>
              </a:rPr>
              <a:t>"...},</a:t>
            </a:r>
          </a:p>
          <a:p>
            <a:r>
              <a:rPr lang="en-US" altLang="zh-TW" dirty="0" smtClean="0">
                <a:solidFill>
                  <a:schemeClr val="bg1"/>
                </a:solidFill>
                <a:latin typeface="Consolas" panose="020B0609020204030204" pitchFamily="49" charset="0"/>
              </a:rPr>
              <a:t>    {"name": "</a:t>
            </a:r>
            <a:r>
              <a:rPr lang="zh-TW" alt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炒飯</a:t>
            </a:r>
            <a:r>
              <a:rPr lang="en-US" altLang="zh-TW" dirty="0" smtClean="0">
                <a:solidFill>
                  <a:schemeClr val="bg1"/>
                </a:solidFill>
                <a:latin typeface="Consolas" panose="020B0609020204030204" pitchFamily="49" charset="0"/>
              </a:rPr>
              <a:t>"...}</a:t>
            </a:r>
          </a:p>
          <a:p>
            <a:r>
              <a:rPr lang="en-US" altLang="zh-TW" dirty="0" smtClean="0">
                <a:solidFill>
                  <a:schemeClr val="bg1"/>
                </a:solidFill>
                <a:latin typeface="Consolas" panose="020B0609020204030204" pitchFamily="49" charset="0"/>
              </a:rPr>
              <a:t>  ]</a:t>
            </a:r>
          </a:p>
          <a:p>
            <a:r>
              <a:rPr lang="en-US" altLang="zh-TW" dirty="0" smtClean="0">
                <a:solidFill>
                  <a:schemeClr val="bg1"/>
                </a:solidFill>
                <a:latin typeface="Consolas" panose="020B0609020204030204" pitchFamily="49" charset="0"/>
              </a:rPr>
              <a:t>}</a:t>
            </a:r>
            <a:endParaRPr lang="zh-TW" altLang="en-US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9463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295402" y="1043092"/>
            <a:ext cx="9601196" cy="1303867"/>
          </a:xfrm>
        </p:spPr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模糊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搜尋與智慧搜尋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021840" y="2727236"/>
            <a:ext cx="8874758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分類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過濾 </a:t>
            </a:r>
            <a:r>
              <a:rPr lang="en-US" altLang="zh-TW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-- 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為了解決前端語系或簡稱與資料庫不一致的問題，後端建立了映射表，</a:t>
            </a:r>
            <a:r>
              <a:rPr lang="en-US" altLang="zh-TW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EX: home 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對應 </a:t>
            </a:r>
            <a:r>
              <a:rPr lang="en-US" altLang="zh-TW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home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或家常菜。</a:t>
            </a:r>
            <a:endParaRPr lang="en-US" altLang="zh-TW" sz="24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24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多食材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邏輯 </a:t>
            </a:r>
            <a:r>
              <a:rPr lang="en-US" altLang="zh-TW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-- 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系統支援多個食材參數</a:t>
            </a:r>
            <a:endParaRPr lang="en-US" altLang="zh-TW" sz="24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24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模糊比對 </a:t>
            </a:r>
            <a:r>
              <a:rPr lang="en-US" altLang="zh-TW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-- EX: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輸入飯的時候，會給出白飯、糙米飯、糯米飯的食譜</a:t>
            </a:r>
            <a:endParaRPr lang="en-US" altLang="zh-TW" sz="24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Rectangle 4"/>
          <p:cNvSpPr>
            <a:spLocks noChangeArrowheads="1"/>
          </p:cNvSpPr>
          <p:nvPr/>
        </p:nvSpPr>
        <p:spPr bwMode="auto">
          <a:xfrm>
            <a:off x="0" y="67017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3177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模糊搜尋</a:t>
            </a:r>
            <a:endParaRPr lang="zh-TW" altLang="en-US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892661"/>
              </p:ext>
            </p:extLst>
          </p:nvPr>
        </p:nvGraphicFramePr>
        <p:xfrm>
          <a:off x="1295398" y="2382520"/>
          <a:ext cx="9601200" cy="260096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3940958616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3908671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31368047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/>
                      <a:r>
                        <a:rPr lang="zh-TW" altLang="en-US" sz="2400" b="1">
                          <a:solidFill>
                            <a:srgbClr val="1F1F1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參數名稱</a:t>
                      </a:r>
                      <a:endParaRPr lang="zh-TW" altLang="en-US" sz="2400">
                        <a:solidFill>
                          <a:srgbClr val="1F1F1F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zh-TW" altLang="en-US" sz="2400" b="1">
                          <a:solidFill>
                            <a:srgbClr val="1F1F1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類型</a:t>
                      </a:r>
                      <a:endParaRPr lang="zh-TW" altLang="en-US" sz="2400">
                        <a:solidFill>
                          <a:srgbClr val="1F1F1F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zh-TW" altLang="en-US" sz="2400" b="1">
                          <a:solidFill>
                            <a:srgbClr val="1F1F1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說明</a:t>
                      </a:r>
                      <a:endParaRPr lang="zh-TW" altLang="en-US" sz="2400">
                        <a:solidFill>
                          <a:srgbClr val="1F1F1F"/>
                        </a:solidFill>
                        <a:effectLst/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6333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sz="2400">
                          <a:solidFill>
                            <a:srgbClr val="1F1F1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category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2400">
                          <a:solidFill>
                            <a:srgbClr val="1F1F1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Optional[str]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zh-TW" altLang="en-US" sz="2400">
                          <a:solidFill>
                            <a:srgbClr val="1F1F1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篩選甜點或家常菜分類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4002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sz="2400">
                          <a:solidFill>
                            <a:srgbClr val="1F1F1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ingredient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2400" dirty="0">
                          <a:solidFill>
                            <a:srgbClr val="1F1F1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List[</a:t>
                      </a:r>
                      <a:r>
                        <a:rPr lang="en-US" sz="2400" dirty="0" err="1">
                          <a:solidFill>
                            <a:srgbClr val="1F1F1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str</a:t>
                      </a:r>
                      <a:r>
                        <a:rPr lang="en-US" sz="2400" dirty="0">
                          <a:solidFill>
                            <a:srgbClr val="1F1F1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]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zh-TW" altLang="en-US" sz="2400" dirty="0">
                          <a:solidFill>
                            <a:srgbClr val="1F1F1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多選食材，支援模糊搜尋比對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695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sz="2400">
                          <a:solidFill>
                            <a:srgbClr val="1F1F1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is_favorite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2400">
                          <a:solidFill>
                            <a:srgbClr val="1F1F1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Boolean (</a:t>
                      </a:r>
                      <a:r>
                        <a:rPr lang="zh-TW" altLang="en-US" sz="2400">
                          <a:solidFill>
                            <a:srgbClr val="1F1F1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回傳</a:t>
                      </a:r>
                      <a:r>
                        <a:rPr lang="en-US" altLang="zh-TW" sz="2400">
                          <a:solidFill>
                            <a:srgbClr val="1F1F1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)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zh-TW" altLang="en-US" sz="2400" dirty="0">
                          <a:solidFill>
                            <a:srgbClr val="1F1F1F"/>
                          </a:solidFill>
                          <a:effectLst/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自動標註該食譜是否已被使用者收藏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33693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48804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 txBox="1">
            <a:spLocks/>
          </p:cNvSpPr>
          <p:nvPr/>
        </p:nvSpPr>
        <p:spPr>
          <a:xfrm>
            <a:off x="3982720" y="3068320"/>
            <a:ext cx="3677920" cy="995680"/>
          </a:xfrm>
          <a:prstGeom prst="rect">
            <a:avLst/>
          </a:prstGeom>
        </p:spPr>
        <p:txBody>
          <a:bodyPr/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zh-TW" altLang="en-US" sz="6000" b="1" dirty="0">
                <a:solidFill>
                  <a:srgbClr val="333333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前</a:t>
            </a:r>
            <a:r>
              <a:rPr lang="zh-TW" altLang="en-US" sz="6000" b="1" dirty="0" smtClean="0">
                <a:solidFill>
                  <a:srgbClr val="333333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端開發</a:t>
            </a:r>
            <a:endParaRPr lang="zh-TW" altLang="en-US" sz="6000" b="1" dirty="0">
              <a:solidFill>
                <a:srgbClr val="00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29808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前端設計理念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1295402" y="2728298"/>
            <a:ext cx="9601196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前端採用了響應式網頁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設計，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核心目標是提供「直覺化」的多食材搜尋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體驗</a:t>
            </a:r>
            <a:endParaRPr lang="en-US" altLang="zh-TW" sz="24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視覺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風格：使用自定義 </a:t>
            </a:r>
            <a:r>
              <a:rPr lang="en-US" altLang="zh-TW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CSS 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變數營造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溫暖的烹飪氛圍，並透過條件式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渲染為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「甜點」與「家常菜」標註不同的標籤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顏色</a:t>
            </a:r>
            <a:endParaRPr lang="en-US" altLang="zh-TW" sz="24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使用者體驗：實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作了動態欄位控制與模式切換，讓複雜的搜尋邏輯變得簡單易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用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29893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動態多食材輸入系統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1295402" y="2690336"/>
            <a:ext cx="9601196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動態增減：透過 </a:t>
            </a:r>
            <a:r>
              <a:rPr lang="en-US" altLang="zh-TW" sz="2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addIngredient</a:t>
            </a:r>
            <a:r>
              <a:rPr lang="en-US" altLang="zh-TW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() 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與 </a:t>
            </a:r>
            <a:r>
              <a:rPr lang="en-US" altLang="zh-TW" sz="2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removeIngredient</a:t>
            </a:r>
            <a:r>
              <a:rPr lang="en-US" altLang="zh-TW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() 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函式操控 </a:t>
            </a:r>
            <a:r>
              <a:rPr lang="en-US" altLang="zh-TW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DOM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，並將上限限制為 </a:t>
            </a:r>
            <a:r>
              <a:rPr lang="en-US" altLang="zh-TW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5 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個欄位以優化行動端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體驗</a:t>
            </a:r>
            <a:endParaRPr lang="en-US" altLang="zh-TW" sz="24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狀態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控制：</a:t>
            </a:r>
            <a:r>
              <a:rPr lang="en-US" altLang="zh-TW" sz="2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checkInputLimit</a:t>
            </a:r>
            <a:r>
              <a:rPr lang="en-US" altLang="zh-TW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() 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函式會自動偵測欄位數量，當達到上限或下限時，自動將按鈕變更為禁用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狀態並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更換顏色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提示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783426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/>
              <a:t>搜尋模型切換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1295402" y="2690336"/>
            <a:ext cx="9601196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系統支援四種不同的互動模式，前端透過 </a:t>
            </a:r>
            <a:r>
              <a:rPr lang="en-US" altLang="zh-TW" sz="2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toggleInputMode</a:t>
            </a:r>
            <a:r>
              <a:rPr lang="en-US" altLang="zh-TW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() 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實作介面的自動轉換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endParaRPr lang="en-US" altLang="zh-TW" sz="24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食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材搜尋模式：顯示「新增食材」按鈕與多個輸入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框</a:t>
            </a:r>
            <a:endParaRPr lang="en-US" altLang="zh-TW" sz="24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食譜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名稱模式：隱藏增減按鈕，並將 </a:t>
            </a:r>
            <a:r>
              <a:rPr lang="en-US" altLang="zh-TW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placeholder 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更改為「輸入食譜名稱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」</a:t>
            </a:r>
            <a:endParaRPr lang="en-US" altLang="zh-TW" sz="24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收藏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模式：直接呼叫收藏 </a:t>
            </a:r>
            <a:r>
              <a:rPr lang="en-US" altLang="zh-TW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API 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並呈現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結果</a:t>
            </a:r>
            <a:endParaRPr lang="zh-TW" altLang="en-US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189854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可能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新增功能</a:t>
            </a:r>
          </a:p>
        </p:txBody>
      </p:sp>
      <p:sp>
        <p:nvSpPr>
          <p:cNvPr id="3" name="文字方塊 2"/>
          <p:cNvSpPr txBox="1"/>
          <p:nvPr/>
        </p:nvSpPr>
        <p:spPr>
          <a:xfrm>
            <a:off x="1295402" y="2418080"/>
            <a:ext cx="10195558" cy="83099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altLang="zh-TW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1. 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資料庫整合</a:t>
            </a:r>
          </a:p>
          <a:p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  </a:t>
            </a:r>
            <a:r>
              <a:rPr lang="en-US" altLang="zh-TW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- 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將 </a:t>
            </a:r>
            <a:r>
              <a:rPr lang="en-US" altLang="zh-TW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Mock DB 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替換為 </a:t>
            </a:r>
            <a:r>
              <a:rPr lang="en-US" altLang="zh-TW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PostgreSQL 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或 </a:t>
            </a:r>
            <a:r>
              <a:rPr lang="en-US" altLang="zh-TW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MongoDB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，支援大量數據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zh-TW" altLang="en-US" sz="24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7325431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有機">
  <a:themeElements>
    <a:clrScheme name="有機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有機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有機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240</TotalTime>
  <Words>571</Words>
  <Application>Microsoft Office PowerPoint</Application>
  <PresentationFormat>寬螢幕</PresentationFormat>
  <Paragraphs>105</Paragraphs>
  <Slides>13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0" baseType="lpstr">
      <vt:lpstr>微軟正黑體</vt:lpstr>
      <vt:lpstr>新細明體</vt:lpstr>
      <vt:lpstr>標楷體</vt:lpstr>
      <vt:lpstr>Arial</vt:lpstr>
      <vt:lpstr>Consolas</vt:lpstr>
      <vt:lpstr>Garamond</vt:lpstr>
      <vt:lpstr>有機</vt:lpstr>
      <vt:lpstr>智慧食譜推薦系統</vt:lpstr>
      <vt:lpstr>PowerPoint 簡報</vt:lpstr>
      <vt:lpstr>系統架構設計 (System Architecture)</vt:lpstr>
      <vt:lpstr>資料結構設計 (Mock Database)</vt:lpstr>
      <vt:lpstr>核心功能實作：搜尋演算法</vt:lpstr>
      <vt:lpstr>功能驗證：API 測試結果</vt:lpstr>
      <vt:lpstr>模糊搜尋與智慧搜尋</vt:lpstr>
      <vt:lpstr>模糊搜尋</vt:lpstr>
      <vt:lpstr>PowerPoint 簡報</vt:lpstr>
      <vt:lpstr>前端設計理念</vt:lpstr>
      <vt:lpstr>動態多食材輸入系統</vt:lpstr>
      <vt:lpstr>搜尋模型切換</vt:lpstr>
      <vt:lpstr>可能新增功能</vt:lpstr>
    </vt:vector>
  </TitlesOfParts>
  <Company>Dynabook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智慧食譜推薦系統：後端架構與實作</dc:title>
  <dc:creator>Megan Cheng</dc:creator>
  <cp:lastModifiedBy>Megan Cheng</cp:lastModifiedBy>
  <cp:revision>10</cp:revision>
  <dcterms:created xsi:type="dcterms:W3CDTF">2025-12-11T08:35:25Z</dcterms:created>
  <dcterms:modified xsi:type="dcterms:W3CDTF">2026-01-08T14:03:09Z</dcterms:modified>
</cp:coreProperties>
</file>