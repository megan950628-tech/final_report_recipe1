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C596FD4-4365-4364-B1CD-6B3B56614197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203DEAB-A335-40D8-B707-26D7553F7104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264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6FD4-4365-4364-B1CD-6B3B56614197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DEAB-A335-40D8-B707-26D7553F71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179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6FD4-4365-4364-B1CD-6B3B56614197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DEAB-A335-40D8-B707-26D7553F7104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015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6FD4-4365-4364-B1CD-6B3B56614197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DEAB-A335-40D8-B707-26D7553F71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1473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6FD4-4365-4364-B1CD-6B3B56614197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DEAB-A335-40D8-B707-26D7553F7104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190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6FD4-4365-4364-B1CD-6B3B56614197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DEAB-A335-40D8-B707-26D7553F7104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597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6FD4-4365-4364-B1CD-6B3B56614197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DEAB-A335-40D8-B707-26D7553F71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2866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6FD4-4365-4364-B1CD-6B3B56614197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DEAB-A335-40D8-B707-26D7553F7104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637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6FD4-4365-4364-B1CD-6B3B56614197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DEAB-A335-40D8-B707-26D7553F71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618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6FD4-4365-4364-B1CD-6B3B56614197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DEAB-A335-40D8-B707-26D7553F71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78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6FD4-4365-4364-B1CD-6B3B56614197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DEAB-A335-40D8-B707-26D7553F7104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280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6FD4-4365-4364-B1CD-6B3B56614197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DEAB-A335-40D8-B707-26D7553F71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198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6FD4-4365-4364-B1CD-6B3B56614197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DEAB-A335-40D8-B707-26D7553F71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0445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6FD4-4365-4364-B1CD-6B3B56614197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DEAB-A335-40D8-B707-26D7553F71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6931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6FD4-4365-4364-B1CD-6B3B56614197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DEAB-A335-40D8-B707-26D7553F7104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825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6FD4-4365-4364-B1CD-6B3B56614197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DEAB-A335-40D8-B707-26D7553F7104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910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6FD4-4365-4364-B1CD-6B3B56614197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DEAB-A335-40D8-B707-26D7553F7104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3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C596FD4-4365-4364-B1CD-6B3B56614197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203DEAB-A335-40D8-B707-26D7553F71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016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452880"/>
            <a:ext cx="9144000" cy="995680"/>
          </a:xfrm>
        </p:spPr>
        <p:txBody>
          <a:bodyPr/>
          <a:lstStyle/>
          <a:p>
            <a:r>
              <a:rPr lang="zh-TW" altLang="en-US" b="1" dirty="0" smtClean="0">
                <a:solidFill>
                  <a:srgbClr val="333333"/>
                </a:solidFill>
              </a:rPr>
              <a:t>智慧</a:t>
            </a:r>
            <a:r>
              <a:rPr lang="zh-TW" altLang="en-US" b="1" dirty="0">
                <a:solidFill>
                  <a:srgbClr val="333333"/>
                </a:solidFill>
              </a:rPr>
              <a:t>食譜推薦系統</a:t>
            </a:r>
            <a:endParaRPr lang="zh-TW" altLang="en-US" b="1" dirty="0">
              <a:solidFill>
                <a:srgbClr val="0000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57600"/>
            <a:ext cx="9144000" cy="1655762"/>
          </a:xfrm>
        </p:spPr>
        <p:txBody>
          <a:bodyPr>
            <a:normAutofit/>
          </a:bodyPr>
          <a:lstStyle/>
          <a:p>
            <a:r>
              <a:rPr lang="zh-TW" altLang="en-US" sz="1800" dirty="0" smtClean="0">
                <a:solidFill>
                  <a:srgbClr val="505050"/>
                </a:solidFill>
              </a:rPr>
              <a:t>後端開發：游鄤蔆 </a:t>
            </a:r>
            <a:r>
              <a:rPr lang="en-US" altLang="zh-TW" sz="1800" dirty="0" smtClean="0">
                <a:solidFill>
                  <a:srgbClr val="505050"/>
                </a:solidFill>
              </a:rPr>
              <a:t>(B11317041)</a:t>
            </a:r>
          </a:p>
          <a:p>
            <a:r>
              <a:rPr lang="zh-TW" altLang="en-US" sz="1800" dirty="0" smtClean="0">
                <a:solidFill>
                  <a:srgbClr val="505050"/>
                </a:solidFill>
              </a:rPr>
              <a:t>產品經理：鄭筑文 </a:t>
            </a:r>
            <a:r>
              <a:rPr lang="en-US" altLang="zh-TW" sz="1800" dirty="0" smtClean="0">
                <a:solidFill>
                  <a:srgbClr val="505050"/>
                </a:solidFill>
              </a:rPr>
              <a:t>(B11317050)</a:t>
            </a:r>
          </a:p>
          <a:p>
            <a:r>
              <a:rPr lang="zh-TW" altLang="en-US" sz="1800" dirty="0" smtClean="0">
                <a:solidFill>
                  <a:srgbClr val="505050"/>
                </a:solidFill>
              </a:rPr>
              <a:t>部署整合：紀均宜 </a:t>
            </a:r>
            <a:r>
              <a:rPr lang="en-US" altLang="zh-TW" sz="1800" dirty="0" smtClean="0">
                <a:solidFill>
                  <a:srgbClr val="505050"/>
                </a:solidFill>
              </a:rPr>
              <a:t>(B11317021)</a:t>
            </a:r>
            <a:endParaRPr lang="zh-TW" altLang="en-US" sz="1800" dirty="0">
              <a:solidFill>
                <a:srgbClr val="505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741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系統架構設計 </a:t>
            </a:r>
            <a:r>
              <a:rPr lang="en-US" altLang="zh-TW" smtClean="0"/>
              <a:t>(System Architecture)</a:t>
            </a:r>
            <a:endParaRPr lang="zh-TW" altLang="en-US"/>
          </a:p>
        </p:txBody>
      </p:sp>
      <p:sp>
        <p:nvSpPr>
          <p:cNvPr id="3" name="圓角矩形 2"/>
          <p:cNvSpPr/>
          <p:nvPr/>
        </p:nvSpPr>
        <p:spPr>
          <a:xfrm>
            <a:off x="2352040" y="3047999"/>
            <a:ext cx="19050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000000"/>
                </a:solidFill>
              </a:rPr>
              <a:t>Client</a:t>
            </a:r>
          </a:p>
          <a:p>
            <a:pPr algn="ctr"/>
            <a:r>
              <a:rPr lang="en-US" altLang="zh-TW" dirty="0" smtClean="0">
                <a:solidFill>
                  <a:srgbClr val="000000"/>
                </a:solidFill>
              </a:rPr>
              <a:t>(User/Mobile)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" name="向右箭號 3"/>
          <p:cNvSpPr/>
          <p:nvPr/>
        </p:nvSpPr>
        <p:spPr>
          <a:xfrm>
            <a:off x="4384040" y="3492499"/>
            <a:ext cx="635000" cy="381000"/>
          </a:xfrm>
          <a:prstGeom prst="rightArrow">
            <a:avLst/>
          </a:prstGeom>
          <a:solidFill>
            <a:srgbClr val="2890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圓角矩形 4"/>
          <p:cNvSpPr/>
          <p:nvPr/>
        </p:nvSpPr>
        <p:spPr>
          <a:xfrm>
            <a:off x="5146040" y="2793999"/>
            <a:ext cx="2286000" cy="1778000"/>
          </a:xfrm>
          <a:prstGeom prst="roundRect">
            <a:avLst/>
          </a:prstGeom>
          <a:solidFill>
            <a:srgbClr val="2890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Backend API</a:t>
            </a:r>
          </a:p>
          <a:p>
            <a:pPr algn="ctr"/>
            <a:r>
              <a:rPr lang="en-US" altLang="zh-TW" sz="1400" dirty="0" smtClean="0"/>
              <a:t>(</a:t>
            </a:r>
            <a:r>
              <a:rPr lang="en-US" altLang="zh-TW" sz="1400" dirty="0" err="1" smtClean="0"/>
              <a:t>FastAPI</a:t>
            </a:r>
            <a:r>
              <a:rPr lang="en-US" altLang="zh-TW" sz="1400" dirty="0" smtClean="0"/>
              <a:t>)</a:t>
            </a:r>
          </a:p>
          <a:p>
            <a:pPr algn="ctr"/>
            <a:endParaRPr lang="en-US" altLang="zh-TW" sz="1400" dirty="0" smtClean="0"/>
          </a:p>
          <a:p>
            <a:pPr algn="ctr"/>
            <a:r>
              <a:rPr lang="en-US" altLang="zh-TW" sz="1400" dirty="0" smtClean="0"/>
              <a:t>‧ </a:t>
            </a:r>
            <a:r>
              <a:rPr lang="en-US" altLang="zh-TW" sz="1400" dirty="0" err="1" smtClean="0"/>
              <a:t>Pydantic</a:t>
            </a:r>
            <a:r>
              <a:rPr lang="en-US" altLang="zh-TW" sz="1400" dirty="0" smtClean="0"/>
              <a:t> Validation</a:t>
            </a:r>
          </a:p>
          <a:p>
            <a:pPr algn="ctr"/>
            <a:r>
              <a:rPr lang="en-US" altLang="zh-TW" sz="1400" dirty="0" smtClean="0"/>
              <a:t>‧ Routing Logic</a:t>
            </a:r>
            <a:endParaRPr lang="zh-TW" altLang="en-US" sz="1400" dirty="0"/>
          </a:p>
        </p:txBody>
      </p:sp>
      <p:sp>
        <p:nvSpPr>
          <p:cNvPr id="6" name="向右箭號 5"/>
          <p:cNvSpPr/>
          <p:nvPr/>
        </p:nvSpPr>
        <p:spPr>
          <a:xfrm>
            <a:off x="7559040" y="3492499"/>
            <a:ext cx="635000" cy="381000"/>
          </a:xfrm>
          <a:prstGeom prst="rightArrow">
            <a:avLst/>
          </a:prstGeom>
          <a:solidFill>
            <a:srgbClr val="2890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圓柱 6"/>
          <p:cNvSpPr/>
          <p:nvPr/>
        </p:nvSpPr>
        <p:spPr>
          <a:xfrm>
            <a:off x="8321040" y="3047999"/>
            <a:ext cx="1905000" cy="1270000"/>
          </a:xfrm>
          <a:prstGeom prst="can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mtClean="0">
                <a:solidFill>
                  <a:srgbClr val="000000"/>
                </a:solidFill>
              </a:rPr>
              <a:t>Data Layer</a:t>
            </a:r>
          </a:p>
          <a:p>
            <a:pPr algn="ctr"/>
            <a:r>
              <a:rPr lang="en-US" altLang="zh-TW" smtClean="0">
                <a:solidFill>
                  <a:srgbClr val="000000"/>
                </a:solidFill>
              </a:rPr>
              <a:t>(List of Dicts)</a:t>
            </a:r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286000" y="5079999"/>
            <a:ext cx="762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架構流程：使用者輸入食材 </a:t>
            </a:r>
            <a:r>
              <a:rPr lang="en-US" altLang="zh-TW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(Request) → </a:t>
            </a:r>
            <a:r>
              <a:rPr lang="en-US" altLang="zh-TW" sz="1600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FastAPI</a:t>
            </a:r>
            <a:r>
              <a:rPr lang="en-US" altLang="zh-TW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進行驗證與搜尋演算法 → 從模擬資料庫撈取資料 → 回傳結果 </a:t>
            </a:r>
            <a:r>
              <a:rPr lang="en-US" altLang="zh-TW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(Response)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2815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資料結構設計 </a:t>
            </a:r>
            <a:r>
              <a:rPr lang="en-US" altLang="zh-TW" dirty="0" smtClean="0"/>
              <a:t>(Mock Database)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1295402" y="2458720"/>
            <a:ext cx="3175000" cy="258532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利用字典模擬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資料庫。</a:t>
            </a:r>
          </a:p>
          <a:p>
            <a:endParaRPr lang="zh-TW" altLang="en-US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彈性結構：方便快速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迭代       與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測試。</a:t>
            </a:r>
          </a:p>
          <a:p>
            <a:endParaRPr lang="zh-TW" altLang="en-US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主要欄位：</a:t>
            </a: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 Name 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菜名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- Ingredients 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食材清單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- Steps 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步驟陣列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5781040" y="2458719"/>
            <a:ext cx="4744720" cy="397031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zh-TW"/>
            </a:defPPr>
          </a:lstStyle>
          <a:p>
            <a:r>
              <a:rPr lang="en-US" altLang="zh-TW" dirty="0" err="1" smtClean="0">
                <a:solidFill>
                  <a:schemeClr val="bg1"/>
                </a:solidFill>
              </a:rPr>
              <a:t>recipes_db</a:t>
            </a:r>
            <a:r>
              <a:rPr lang="en-US" altLang="zh-TW" dirty="0" smtClean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= [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{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"name": "</a:t>
            </a:r>
            <a:r>
              <a:rPr lang="zh-TW" altLang="en-US" dirty="0">
                <a:solidFill>
                  <a:schemeClr val="bg1"/>
                </a:solidFill>
              </a:rPr>
              <a:t>番茄炒蛋</a:t>
            </a:r>
            <a:r>
              <a:rPr lang="en-US" altLang="zh-TW" dirty="0">
                <a:solidFill>
                  <a:schemeClr val="bg1"/>
                </a:solidFill>
              </a:rPr>
              <a:t>",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"ingredients": ["egg", "tomato"],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"steps": ["</a:t>
            </a:r>
            <a:r>
              <a:rPr lang="zh-TW" altLang="en-US" dirty="0">
                <a:solidFill>
                  <a:schemeClr val="bg1"/>
                </a:solidFill>
              </a:rPr>
              <a:t>切番茄</a:t>
            </a:r>
            <a:r>
              <a:rPr lang="en-US" altLang="zh-TW" dirty="0">
                <a:solidFill>
                  <a:schemeClr val="bg1"/>
                </a:solidFill>
              </a:rPr>
              <a:t>", "</a:t>
            </a:r>
            <a:r>
              <a:rPr lang="zh-TW" altLang="en-US" dirty="0">
                <a:solidFill>
                  <a:schemeClr val="bg1"/>
                </a:solidFill>
              </a:rPr>
              <a:t>打蛋</a:t>
            </a:r>
            <a:r>
              <a:rPr lang="en-US" altLang="zh-TW" dirty="0">
                <a:solidFill>
                  <a:schemeClr val="bg1"/>
                </a:solidFill>
              </a:rPr>
              <a:t>", "</a:t>
            </a:r>
            <a:r>
              <a:rPr lang="zh-TW" altLang="en-US" dirty="0">
                <a:solidFill>
                  <a:schemeClr val="bg1"/>
                </a:solidFill>
              </a:rPr>
              <a:t>下鍋炒</a:t>
            </a:r>
            <a:r>
              <a:rPr lang="en-US" altLang="zh-TW" dirty="0">
                <a:solidFill>
                  <a:schemeClr val="bg1"/>
                </a:solidFill>
              </a:rPr>
              <a:t>"],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</a:t>
            </a:r>
            <a:r>
              <a:rPr lang="en-US" altLang="zh-TW" dirty="0" smtClean="0">
                <a:solidFill>
                  <a:schemeClr val="bg1"/>
                </a:solidFill>
              </a:rPr>
              <a:t> },{</a:t>
            </a:r>
            <a:endParaRPr lang="en-US" altLang="zh-TW" dirty="0">
              <a:solidFill>
                <a:schemeClr val="bg1"/>
              </a:solidFill>
            </a:endParaRPr>
          </a:p>
          <a:p>
            <a:r>
              <a:rPr lang="en-US" altLang="zh-TW" dirty="0">
                <a:solidFill>
                  <a:schemeClr val="bg1"/>
                </a:solidFill>
              </a:rPr>
              <a:t>        "name": "</a:t>
            </a:r>
            <a:r>
              <a:rPr lang="zh-TW" altLang="en-US" dirty="0">
                <a:solidFill>
                  <a:schemeClr val="bg1"/>
                </a:solidFill>
              </a:rPr>
              <a:t>蛋花湯</a:t>
            </a:r>
            <a:r>
              <a:rPr lang="en-US" altLang="zh-TW" dirty="0">
                <a:solidFill>
                  <a:schemeClr val="bg1"/>
                </a:solidFill>
              </a:rPr>
              <a:t>",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"ingredients": ["egg", "water"],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"steps": ["</a:t>
            </a:r>
            <a:r>
              <a:rPr lang="zh-TW" altLang="en-US" dirty="0">
                <a:solidFill>
                  <a:schemeClr val="bg1"/>
                </a:solidFill>
              </a:rPr>
              <a:t>煮水</a:t>
            </a:r>
            <a:r>
              <a:rPr lang="en-US" altLang="zh-TW" dirty="0">
                <a:solidFill>
                  <a:schemeClr val="bg1"/>
                </a:solidFill>
              </a:rPr>
              <a:t>", "</a:t>
            </a:r>
            <a:r>
              <a:rPr lang="zh-TW" altLang="en-US" dirty="0">
                <a:solidFill>
                  <a:schemeClr val="bg1"/>
                </a:solidFill>
              </a:rPr>
              <a:t>打蛋</a:t>
            </a:r>
            <a:r>
              <a:rPr lang="en-US" altLang="zh-TW" dirty="0">
                <a:solidFill>
                  <a:schemeClr val="bg1"/>
                </a:solidFill>
              </a:rPr>
              <a:t>", "</a:t>
            </a:r>
            <a:r>
              <a:rPr lang="zh-TW" altLang="en-US" dirty="0">
                <a:solidFill>
                  <a:schemeClr val="bg1"/>
                </a:solidFill>
              </a:rPr>
              <a:t>慢慢倒進鍋裡</a:t>
            </a:r>
            <a:r>
              <a:rPr lang="en-US" altLang="zh-TW" dirty="0" smtClean="0">
                <a:solidFill>
                  <a:schemeClr val="bg1"/>
                </a:solidFill>
              </a:rPr>
              <a:t>"],</a:t>
            </a:r>
          </a:p>
          <a:p>
            <a:r>
              <a:rPr lang="en-US" altLang="zh-TW" dirty="0" smtClean="0">
                <a:solidFill>
                  <a:schemeClr val="bg1"/>
                </a:solidFill>
              </a:rPr>
              <a:t>    },{</a:t>
            </a:r>
            <a:endParaRPr lang="en-US" altLang="zh-TW" dirty="0">
              <a:solidFill>
                <a:schemeClr val="bg1"/>
              </a:solidFill>
            </a:endParaRPr>
          </a:p>
          <a:p>
            <a:r>
              <a:rPr lang="en-US" altLang="zh-TW" dirty="0">
                <a:solidFill>
                  <a:schemeClr val="bg1"/>
                </a:solidFill>
              </a:rPr>
              <a:t>        "name": "</a:t>
            </a:r>
            <a:r>
              <a:rPr lang="zh-TW" altLang="en-US" dirty="0">
                <a:solidFill>
                  <a:schemeClr val="bg1"/>
                </a:solidFill>
              </a:rPr>
              <a:t>炒飯</a:t>
            </a:r>
            <a:r>
              <a:rPr lang="en-US" altLang="zh-TW" dirty="0">
                <a:solidFill>
                  <a:schemeClr val="bg1"/>
                </a:solidFill>
              </a:rPr>
              <a:t>",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"ingredients": ["rice", "egg"],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"steps": ["</a:t>
            </a:r>
            <a:r>
              <a:rPr lang="zh-TW" altLang="en-US" dirty="0">
                <a:solidFill>
                  <a:schemeClr val="bg1"/>
                </a:solidFill>
              </a:rPr>
              <a:t>熱鍋</a:t>
            </a:r>
            <a:r>
              <a:rPr lang="en-US" altLang="zh-TW" dirty="0">
                <a:solidFill>
                  <a:schemeClr val="bg1"/>
                </a:solidFill>
              </a:rPr>
              <a:t>", "</a:t>
            </a:r>
            <a:r>
              <a:rPr lang="zh-TW" altLang="en-US" dirty="0">
                <a:solidFill>
                  <a:schemeClr val="bg1"/>
                </a:solidFill>
              </a:rPr>
              <a:t>下飯</a:t>
            </a:r>
            <a:r>
              <a:rPr lang="en-US" altLang="zh-TW" dirty="0">
                <a:solidFill>
                  <a:schemeClr val="bg1"/>
                </a:solidFill>
              </a:rPr>
              <a:t>", "</a:t>
            </a:r>
            <a:r>
              <a:rPr lang="zh-TW" altLang="en-US" dirty="0">
                <a:solidFill>
                  <a:schemeClr val="bg1"/>
                </a:solidFill>
              </a:rPr>
              <a:t>加蛋</a:t>
            </a:r>
            <a:r>
              <a:rPr lang="en-US" altLang="zh-TW" dirty="0">
                <a:solidFill>
                  <a:schemeClr val="bg1"/>
                </a:solidFill>
              </a:rPr>
              <a:t>"],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</a:t>
            </a:r>
            <a:r>
              <a:rPr lang="en-US" altLang="zh-TW" dirty="0" smtClean="0">
                <a:solidFill>
                  <a:schemeClr val="bg1"/>
                </a:solidFill>
              </a:rPr>
              <a:t>}]</a:t>
            </a:r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459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核心功能實作：搜尋演算法</a:t>
            </a:r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2057400" y="2458720"/>
            <a:ext cx="7747000" cy="3820160"/>
          </a:xfrm>
          <a:prstGeom prst="rect">
            <a:avLst/>
          </a:prstGeom>
          <a:solidFill>
            <a:srgbClr val="28282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400" dirty="0" err="1">
                <a:solidFill>
                  <a:srgbClr val="4EC9B0"/>
                </a:solidFill>
                <a:latin typeface="Consolas" panose="020B0609020204030204" pitchFamily="49" charset="0"/>
              </a:rPr>
              <a:t>SearchRequest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1400" dirty="0" err="1">
                <a:solidFill>
                  <a:srgbClr val="4EC9B0"/>
                </a:solidFill>
                <a:latin typeface="Consolas" panose="020B0609020204030204" pitchFamily="49" charset="0"/>
              </a:rPr>
              <a:t>BaseModel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sz="1400" dirty="0">
                <a:solidFill>
                  <a:srgbClr val="9CDCFE"/>
                </a:solidFill>
                <a:latin typeface="Consolas" panose="020B0609020204030204" pitchFamily="49" charset="0"/>
              </a:rPr>
              <a:t>ingredient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zh-TW" sz="1400" dirty="0" err="1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endParaRPr lang="en-US" altLang="zh-TW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altLang="zh-TW" sz="1400" dirty="0">
                <a:solidFill>
                  <a:srgbClr val="DCDCAA"/>
                </a:solidFill>
                <a:latin typeface="Consolas" panose="020B0609020204030204" pitchFamily="49" charset="0"/>
              </a:rPr>
              <a:t>@</a:t>
            </a:r>
            <a:r>
              <a:rPr lang="en-US" altLang="zh-TW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app</a:t>
            </a:r>
            <a:r>
              <a:rPr lang="en-US" altLang="zh-TW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.get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1400" dirty="0">
                <a:solidFill>
                  <a:srgbClr val="CE9178"/>
                </a:solidFill>
                <a:latin typeface="Consolas" panose="020B0609020204030204" pitchFamily="49" charset="0"/>
              </a:rPr>
              <a:t>"/ping"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TW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400" dirty="0">
                <a:solidFill>
                  <a:srgbClr val="DCDCAA"/>
                </a:solidFill>
                <a:latin typeface="Consolas" panose="020B0609020204030204" pitchFamily="49" charset="0"/>
              </a:rPr>
              <a:t>ping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():</a:t>
            </a:r>
          </a:p>
          <a:p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sz="14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  <a:r>
              <a:rPr lang="en-US" altLang="zh-TW" sz="1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zh-TW" sz="1400" dirty="0" err="1">
                <a:solidFill>
                  <a:srgbClr val="CE9178"/>
                </a:solidFill>
                <a:latin typeface="Consolas" panose="020B0609020204030204" pitchFamily="49" charset="0"/>
              </a:rPr>
              <a:t>msg</a:t>
            </a:r>
            <a:r>
              <a:rPr lang="en-US" altLang="zh-TW" sz="1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zh-TW" sz="1400" dirty="0">
                <a:solidFill>
                  <a:srgbClr val="CE9178"/>
                </a:solidFill>
                <a:latin typeface="Consolas" panose="020B0609020204030204" pitchFamily="49" charset="0"/>
              </a:rPr>
              <a:t>"pong"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altLang="zh-TW" sz="1400" dirty="0">
                <a:solidFill>
                  <a:srgbClr val="DCDCAA"/>
                </a:solidFill>
                <a:latin typeface="Consolas" panose="020B0609020204030204" pitchFamily="49" charset="0"/>
              </a:rPr>
              <a:t>@</a:t>
            </a:r>
            <a:r>
              <a:rPr lang="en-US" altLang="zh-TW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app</a:t>
            </a:r>
            <a:r>
              <a:rPr lang="en-US" altLang="zh-TW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.post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1400" dirty="0">
                <a:solidFill>
                  <a:srgbClr val="CE9178"/>
                </a:solidFill>
                <a:latin typeface="Consolas" panose="020B0609020204030204" pitchFamily="49" charset="0"/>
              </a:rPr>
              <a:t>"/recipes/search"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TW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search_recipes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1400" dirty="0">
                <a:solidFill>
                  <a:srgbClr val="9CDCFE"/>
                </a:solidFill>
                <a:latin typeface="Consolas" panose="020B0609020204030204" pitchFamily="49" charset="0"/>
              </a:rPr>
              <a:t>request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zh-TW" sz="1400" dirty="0" err="1">
                <a:solidFill>
                  <a:srgbClr val="4EC9B0"/>
                </a:solidFill>
                <a:latin typeface="Consolas" panose="020B0609020204030204" pitchFamily="49" charset="0"/>
              </a:rPr>
              <a:t>SearchRequest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sz="1400" dirty="0">
                <a:solidFill>
                  <a:srgbClr val="9CDCFE"/>
                </a:solidFill>
                <a:latin typeface="Consolas" panose="020B0609020204030204" pitchFamily="49" charset="0"/>
              </a:rPr>
              <a:t>keyword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request</a:t>
            </a:r>
            <a:r>
              <a:rPr lang="en-US" altLang="zh-TW" sz="14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ingredient</a:t>
            </a:r>
            <a:r>
              <a:rPr lang="en-US" altLang="zh-TW" sz="14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lower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sz="1400" dirty="0">
                <a:solidFill>
                  <a:srgbClr val="9CDCFE"/>
                </a:solidFill>
                <a:latin typeface="Consolas" panose="020B0609020204030204" pitchFamily="49" charset="0"/>
              </a:rPr>
              <a:t>results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 []</a:t>
            </a:r>
          </a:p>
          <a:p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sz="14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4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4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recipes_db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TW" sz="14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400" dirty="0">
                <a:solidFill>
                  <a:srgbClr val="9CDCFE"/>
                </a:solidFill>
                <a:latin typeface="Consolas" panose="020B0609020204030204" pitchFamily="49" charset="0"/>
              </a:rPr>
              <a:t>keyword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400" dirty="0">
                <a:solidFill>
                  <a:srgbClr val="569CD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4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US" altLang="zh-TW" sz="1400" dirty="0">
                <a:solidFill>
                  <a:srgbClr val="CE9178"/>
                </a:solidFill>
                <a:latin typeface="Consolas" panose="020B0609020204030204" pitchFamily="49" charset="0"/>
              </a:rPr>
              <a:t>"ingredients"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]:</a:t>
            </a:r>
          </a:p>
          <a:p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zh-TW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results</a:t>
            </a:r>
            <a:r>
              <a:rPr lang="en-US" altLang="zh-TW" sz="14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append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({</a:t>
            </a:r>
            <a:r>
              <a:rPr lang="en-US" altLang="zh-TW" sz="1400" dirty="0">
                <a:solidFill>
                  <a:srgbClr val="CE9178"/>
                </a:solidFill>
                <a:latin typeface="Consolas" panose="020B0609020204030204" pitchFamily="49" charset="0"/>
              </a:rPr>
              <a:t>"name"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zh-TW" sz="14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US" altLang="zh-TW" sz="1400" dirty="0">
                <a:solidFill>
                  <a:srgbClr val="CE9178"/>
                </a:solidFill>
                <a:latin typeface="Consolas" panose="020B0609020204030204" pitchFamily="49" charset="0"/>
              </a:rPr>
              <a:t>"name"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en-US" altLang="zh-TW" sz="1400" dirty="0">
                <a:solidFill>
                  <a:srgbClr val="CE9178"/>
                </a:solidFill>
                <a:latin typeface="Consolas" panose="020B0609020204030204" pitchFamily="49" charset="0"/>
              </a:rPr>
              <a:t>"ingredients"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zh-TW" sz="14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US" altLang="zh-TW" sz="1400" dirty="0">
                <a:solidFill>
                  <a:srgbClr val="CE9178"/>
                </a:solidFill>
                <a:latin typeface="Consolas" panose="020B0609020204030204" pitchFamily="49" charset="0"/>
              </a:rPr>
              <a:t>"ingredients"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]})</a:t>
            </a:r>
          </a:p>
          <a:p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sz="14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  <a:r>
              <a:rPr lang="en-US" altLang="zh-TW" sz="1400" dirty="0">
                <a:solidFill>
                  <a:srgbClr val="CE9178"/>
                </a:solidFill>
                <a:latin typeface="Consolas" panose="020B0609020204030204" pitchFamily="49" charset="0"/>
              </a:rPr>
              <a:t>"count"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zh-TW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len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1400" dirty="0">
                <a:solidFill>
                  <a:srgbClr val="9CDCFE"/>
                </a:solidFill>
                <a:latin typeface="Consolas" panose="020B0609020204030204" pitchFamily="49" charset="0"/>
              </a:rPr>
              <a:t>results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en-US" altLang="zh-TW" sz="1400" dirty="0">
                <a:solidFill>
                  <a:srgbClr val="CE9178"/>
                </a:solidFill>
                <a:latin typeface="Consolas" panose="020B0609020204030204" pitchFamily="49" charset="0"/>
              </a:rPr>
              <a:t>"recipes"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zh-TW" sz="1400" dirty="0">
                <a:solidFill>
                  <a:srgbClr val="9CDCFE"/>
                </a:solidFill>
                <a:latin typeface="Consolas" panose="020B0609020204030204" pitchFamily="49" charset="0"/>
              </a:rPr>
              <a:t>results</a:t>
            </a:r>
            <a:r>
              <a:rPr lang="en-US" altLang="zh-TW" sz="14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zh-TW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031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功能驗證：</a:t>
            </a:r>
            <a:r>
              <a:rPr lang="en-US" altLang="zh-TW" smtClean="0"/>
              <a:t>API </a:t>
            </a:r>
            <a:r>
              <a:rPr lang="zh-TW" altLang="en-US" smtClean="0"/>
              <a:t>測試結果</a:t>
            </a:r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2402840" y="2824480"/>
            <a:ext cx="3175000" cy="254000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>
                <a:solidFill>
                  <a:srgbClr val="000000"/>
                </a:solidFill>
                <a:latin typeface="Consolas" panose="020B0609020204030204" pitchFamily="49" charset="0"/>
              </a:rPr>
              <a:t>REQUEST (Client)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Consolas" panose="020B0609020204030204" pitchFamily="49" charset="0"/>
              </a:rPr>
              <a:t>POST /recipes/search</a:t>
            </a:r>
          </a:p>
          <a:p>
            <a:endParaRPr lang="en-US" altLang="zh-TW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"ingredient": "egg"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TW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向右箭號 3"/>
          <p:cNvSpPr/>
          <p:nvPr/>
        </p:nvSpPr>
        <p:spPr>
          <a:xfrm>
            <a:off x="5831840" y="3840480"/>
            <a:ext cx="1016000" cy="508000"/>
          </a:xfrm>
          <a:prstGeom prst="rightArrow">
            <a:avLst/>
          </a:prstGeom>
          <a:solidFill>
            <a:srgbClr val="2890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7101840" y="2692400"/>
            <a:ext cx="3175000" cy="3007360"/>
          </a:xfrm>
          <a:prstGeom prst="rect">
            <a:avLst/>
          </a:prstGeom>
          <a:solidFill>
            <a:srgbClr val="28282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>
                <a:solidFill>
                  <a:schemeClr val="bg1"/>
                </a:solidFill>
                <a:latin typeface="Consolas" panose="020B0609020204030204" pitchFamily="49" charset="0"/>
              </a:rPr>
              <a:t>RESPONSE (Server)</a:t>
            </a:r>
          </a:p>
          <a:p>
            <a:r>
              <a:rPr lang="en-US" altLang="zh-TW" dirty="0" smtClean="0">
                <a:solidFill>
                  <a:schemeClr val="bg1"/>
                </a:solidFill>
                <a:latin typeface="Consolas" panose="020B0609020204030204" pitchFamily="49" charset="0"/>
              </a:rPr>
              <a:t>Status: 200 OK</a:t>
            </a:r>
          </a:p>
          <a:p>
            <a:endParaRPr lang="en-US" altLang="zh-TW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dirty="0" smtClean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TW" dirty="0" smtClean="0">
                <a:solidFill>
                  <a:schemeClr val="bg1"/>
                </a:solidFill>
                <a:latin typeface="Consolas" panose="020B0609020204030204" pitchFamily="49" charset="0"/>
              </a:rPr>
              <a:t>  "count": 2,</a:t>
            </a:r>
          </a:p>
          <a:p>
            <a:r>
              <a:rPr lang="en-US" altLang="zh-TW" dirty="0" smtClean="0">
                <a:solidFill>
                  <a:schemeClr val="bg1"/>
                </a:solidFill>
                <a:latin typeface="Consolas" panose="020B0609020204030204" pitchFamily="49" charset="0"/>
              </a:rPr>
              <a:t>  "recipes": [</a:t>
            </a:r>
          </a:p>
          <a:p>
            <a:r>
              <a:rPr lang="en-US" altLang="zh-TW" dirty="0" smtClean="0">
                <a:solidFill>
                  <a:schemeClr val="bg1"/>
                </a:solidFill>
                <a:latin typeface="Consolas" panose="020B0609020204030204" pitchFamily="49" charset="0"/>
              </a:rPr>
              <a:t>    {"name": "</a:t>
            </a:r>
            <a:r>
              <a:rPr lang="zh-TW" alt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番茄炒蛋</a:t>
            </a:r>
            <a:r>
              <a:rPr lang="en-US" altLang="zh-TW" dirty="0" smtClean="0">
                <a:solidFill>
                  <a:schemeClr val="bg1"/>
                </a:solidFill>
                <a:latin typeface="Consolas" panose="020B0609020204030204" pitchFamily="49" charset="0"/>
              </a:rPr>
              <a:t>"...},</a:t>
            </a:r>
          </a:p>
          <a:p>
            <a:r>
              <a:rPr lang="en-US" altLang="zh-TW" dirty="0" smtClean="0">
                <a:solidFill>
                  <a:schemeClr val="bg1"/>
                </a:solidFill>
                <a:latin typeface="Consolas" panose="020B0609020204030204" pitchFamily="49" charset="0"/>
              </a:rPr>
              <a:t>    {"name": "</a:t>
            </a:r>
            <a:r>
              <a:rPr lang="zh-TW" alt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炒飯</a:t>
            </a:r>
            <a:r>
              <a:rPr lang="en-US" altLang="zh-TW" dirty="0" smtClean="0">
                <a:solidFill>
                  <a:schemeClr val="bg1"/>
                </a:solidFill>
                <a:latin typeface="Consolas" panose="020B0609020204030204" pitchFamily="49" charset="0"/>
              </a:rPr>
              <a:t>"...}</a:t>
            </a:r>
          </a:p>
          <a:p>
            <a:r>
              <a:rPr lang="en-US" altLang="zh-TW" dirty="0" smtClean="0">
                <a:solidFill>
                  <a:schemeClr val="bg1"/>
                </a:solidFill>
                <a:latin typeface="Consolas" panose="020B0609020204030204" pitchFamily="49" charset="0"/>
              </a:rPr>
              <a:t>  ]</a:t>
            </a:r>
          </a:p>
          <a:p>
            <a:r>
              <a:rPr lang="en-US" altLang="zh-TW" dirty="0" smtClean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zh-TW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463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可能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新增功能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1295402" y="2418080"/>
            <a:ext cx="10195558" cy="30469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1.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資料庫整合</a:t>
            </a:r>
          </a:p>
          <a:p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將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Mock DB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替換為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PostgreSQL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或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MongoDB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，支援大量數據。</a:t>
            </a:r>
          </a:p>
          <a:p>
            <a:endPara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2.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搜尋演算法優化</a:t>
            </a:r>
          </a:p>
          <a:p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加入模糊搜尋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(Fuzzy Search)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，例如輸入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"eggs"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也能搜尋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"egg"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endPara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3.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錯誤處理機制</a:t>
            </a:r>
          </a:p>
          <a:p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增加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404 Not Found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等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HTTP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狀態碼的回傳處理。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32543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有機">
  <a:themeElements>
    <a:clrScheme name="有機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有機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有機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35</TotalTime>
  <Words>283</Words>
  <Application>Microsoft Office PowerPoint</Application>
  <PresentationFormat>寬螢幕</PresentationFormat>
  <Paragraphs>78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微軟正黑體</vt:lpstr>
      <vt:lpstr>新細明體</vt:lpstr>
      <vt:lpstr>標楷體</vt:lpstr>
      <vt:lpstr>Arial</vt:lpstr>
      <vt:lpstr>Consolas</vt:lpstr>
      <vt:lpstr>Garamond</vt:lpstr>
      <vt:lpstr>有機</vt:lpstr>
      <vt:lpstr>智慧食譜推薦系統</vt:lpstr>
      <vt:lpstr>系統架構設計 (System Architecture)</vt:lpstr>
      <vt:lpstr>資料結構設計 (Mock Database)</vt:lpstr>
      <vt:lpstr>核心功能實作：搜尋演算法</vt:lpstr>
      <vt:lpstr>功能驗證：API 測試結果</vt:lpstr>
      <vt:lpstr>可能新增功能</vt:lpstr>
    </vt:vector>
  </TitlesOfParts>
  <Company>Dynabook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智慧食譜推薦系統：後端架構與實作</dc:title>
  <dc:creator>Megan Cheng</dc:creator>
  <cp:lastModifiedBy>Megan Cheng</cp:lastModifiedBy>
  <cp:revision>3</cp:revision>
  <dcterms:created xsi:type="dcterms:W3CDTF">2025-12-11T08:35:25Z</dcterms:created>
  <dcterms:modified xsi:type="dcterms:W3CDTF">2025-12-11T16:25:07Z</dcterms:modified>
</cp:coreProperties>
</file>